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3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86649-42EF-4A01-9C06-ED4C7EC07CD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AFDF5-A4E2-4BDE-BAF9-8B00A54BB4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9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AFDF5-A4E2-4BDE-BAF9-8B00A54BB46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51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AFDF5-A4E2-4BDE-BAF9-8B00A54BB46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279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40080"/>
            <a:ext cx="10881360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  <a:latin typeface="Calibri"/>
              </a:rPr>
              <a:t>Wireframes - Livrable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148840"/>
            <a:ext cx="10332720" cy="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TD6 - Equipe 8  |  Programmation Web  |  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202020"/>
                </a:solidFill>
                <a:latin typeface="Calibri"/>
              </a:rP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1.  Page titre / sommaire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472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2.  Connexion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94176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3.  </a:t>
            </a:r>
            <a:r>
              <a:rPr lang="fr-FR" sz="1100" dirty="0">
                <a:solidFill>
                  <a:srgbClr val="202020"/>
                </a:solidFill>
                <a:latin typeface="Calibri"/>
              </a:rPr>
              <a:t>Ajout d’un </a:t>
            </a:r>
            <a:r>
              <a:rPr lang="fr-FR" sz="1100" dirty="0" err="1">
                <a:solidFill>
                  <a:srgbClr val="202020"/>
                </a:solidFill>
                <a:latin typeface="Calibri"/>
              </a:rPr>
              <a:t>etudiant</a:t>
            </a:r>
            <a:r>
              <a:rPr lang="fr-FR" sz="1100" dirty="0">
                <a:solidFill>
                  <a:srgbClr val="202020"/>
                </a:solidFill>
                <a:latin typeface="Calibri"/>
              </a:rPr>
              <a:t> via compte admin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941064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4. </a:t>
            </a:r>
            <a:r>
              <a:rPr lang="fr-FR" sz="1100" dirty="0">
                <a:solidFill>
                  <a:srgbClr val="202020"/>
                </a:solidFill>
              </a:rPr>
              <a:t>Dashboard admin - gestion salles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5. </a:t>
            </a:r>
            <a:r>
              <a:rPr lang="fr-FR" sz="1100" dirty="0">
                <a:solidFill>
                  <a:srgbClr val="202020"/>
                </a:solidFill>
              </a:rPr>
              <a:t>Dashboard </a:t>
            </a:r>
            <a:r>
              <a:rPr lang="fr-FR" sz="1100" dirty="0" err="1">
                <a:solidFill>
                  <a:srgbClr val="202020"/>
                </a:solidFill>
              </a:rPr>
              <a:t>etudiant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6. </a:t>
            </a:r>
            <a:r>
              <a:rPr lang="fr-FR" sz="1100" dirty="0">
                <a:solidFill>
                  <a:srgbClr val="202020"/>
                </a:solidFill>
              </a:rPr>
              <a:t>Inscription aux cours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81728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7. </a:t>
            </a:r>
            <a:r>
              <a:rPr lang="fr-FR" sz="1100" dirty="0" err="1">
                <a:solidFill>
                  <a:srgbClr val="202020"/>
                </a:solidFill>
              </a:rPr>
              <a:t>Releve</a:t>
            </a:r>
            <a:r>
              <a:rPr lang="fr-FR" sz="1100" dirty="0">
                <a:solidFill>
                  <a:srgbClr val="202020"/>
                </a:solidFill>
              </a:rPr>
              <a:t> de notes / bulletin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928616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8. </a:t>
            </a:r>
            <a:r>
              <a:rPr lang="fr-FR" sz="1100" dirty="0">
                <a:solidFill>
                  <a:srgbClr val="202020"/>
                </a:solidFill>
              </a:rPr>
              <a:t>Mes </a:t>
            </a:r>
            <a:r>
              <a:rPr lang="fr-FR" sz="1100" dirty="0" err="1">
                <a:solidFill>
                  <a:srgbClr val="202020"/>
                </a:solidFill>
              </a:rPr>
              <a:t>presences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5175504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9. </a:t>
            </a:r>
            <a:r>
              <a:rPr lang="fr-FR" sz="1100" dirty="0">
                <a:solidFill>
                  <a:srgbClr val="202020"/>
                </a:solidFill>
              </a:rPr>
              <a:t>Messagerie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422392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10. </a:t>
            </a:r>
            <a:r>
              <a:rPr lang="fr-FR" sz="1100" dirty="0">
                <a:solidFill>
                  <a:srgbClr val="202020"/>
                </a:solidFill>
              </a:rPr>
              <a:t>Dashboard enseignant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11. </a:t>
            </a:r>
            <a:r>
              <a:rPr lang="fr-FR" sz="1100" dirty="0">
                <a:solidFill>
                  <a:srgbClr val="202020"/>
                </a:solidFill>
              </a:rPr>
              <a:t>Saisie de notes</a:t>
            </a:r>
            <a:endParaRPr sz="11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916168"/>
            <a:ext cx="4937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202020"/>
                </a:solidFill>
                <a:latin typeface="Calibri"/>
              </a:rPr>
              <a:t>12.</a:t>
            </a:r>
            <a:r>
              <a:rPr lang="fr-FR" sz="1100" dirty="0">
                <a:solidFill>
                  <a:srgbClr val="202020"/>
                </a:solidFill>
              </a:rPr>
              <a:t> Saisie de </a:t>
            </a:r>
            <a:r>
              <a:rPr lang="fr-FR" sz="1100" dirty="0" err="1">
                <a:solidFill>
                  <a:srgbClr val="202020"/>
                </a:solidFill>
              </a:rPr>
              <a:t>presences</a:t>
            </a:r>
            <a:r>
              <a:rPr sz="1100" b="0" i="0" dirty="0">
                <a:solidFill>
                  <a:srgbClr val="202020"/>
                </a:solidFill>
                <a:latin typeface="Calibri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202020"/>
                </a:solidFill>
                <a:latin typeface="Calibri"/>
              </a:rPr>
              <a:t>MOBILE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13. Connexion (mobile)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472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14. Dashboard etudiant (mobile)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9417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15. Releve de notes (mobile)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16. Mes presences (mobile)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87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17. Messagerie (mobile)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Wireframe #2 - Connexion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smartcampus.ece.fr/connexion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 err="1">
                <a:solidFill>
                  <a:srgbClr val="202020"/>
                </a:solidFill>
                <a:latin typeface="Calibri"/>
              </a:rPr>
              <a:t>SmartCampus</a:t>
            </a:r>
            <a:endParaRPr sz="18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0" y="914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Aide  |  FR / 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4572000" cy="411480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914400" y="1828800"/>
            <a:ext cx="4572000" cy="411480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14400" y="1828800"/>
            <a:ext cx="4572000" cy="411480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7764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Visuel / Illustration campus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Bienvenue sur SmartCampus - gerez votre scolarite en ligne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2020"/>
                </a:solidFill>
                <a:latin typeface="Calibri"/>
              </a:rPr>
              <a:t>Connexion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1460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Email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743200"/>
            <a:ext cx="40233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prenom.nom@edu.ece.fr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5468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Mot de passe 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383280"/>
            <a:ext cx="40233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********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9476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Se connecter en tant que :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40690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76288" y="40507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Etudiant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0" y="40690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40507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Enseignant</a:t>
            </a:r>
          </a:p>
        </p:txBody>
      </p:sp>
      <p:sp>
        <p:nvSpPr>
          <p:cNvPr id="28" name="Oval 27"/>
          <p:cNvSpPr/>
          <p:nvPr/>
        </p:nvSpPr>
        <p:spPr>
          <a:xfrm>
            <a:off x="9418320" y="40690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19488" y="40507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526280"/>
            <a:ext cx="402336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100" b="1">
                <a:solidFill>
                  <a:srgbClr val="202020"/>
                </a:solidFill>
              </a:rPr>
              <a:t>VALIDER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02920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Mot de passe oublie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3035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Pas encore de compte ?  &gt;  Creer un compte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A7582-0DCA-23E1-3C1B-F30E0754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CD9C4D-9550-0BC5-E017-3803B00EB17A}"/>
              </a:ext>
            </a:extLst>
          </p:cNvPr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dirty="0">
                <a:solidFill>
                  <a:srgbClr val="555555"/>
                </a:solidFill>
                <a:latin typeface="Calibri"/>
              </a:rPr>
              <a:t>3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Admin - </a:t>
            </a:r>
            <a:r>
              <a:rPr lang="fr-FR" sz="1200" b="1" dirty="0">
                <a:solidFill>
                  <a:srgbClr val="555555"/>
                </a:solidFill>
              </a:rPr>
              <a:t>Ajout d’un </a:t>
            </a:r>
            <a:r>
              <a:rPr lang="fr-FR" sz="1200" b="1" dirty="0" err="1">
                <a:solidFill>
                  <a:srgbClr val="555555"/>
                </a:solidFill>
              </a:rPr>
              <a:t>etudiant</a:t>
            </a:r>
            <a:endParaRPr sz="1200" b="1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716185-0CD5-3CEE-2DE0-6E78A20FFF4E}"/>
              </a:ext>
            </a:extLst>
          </p:cNvPr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423EB-F05F-0C3F-16D3-C7371B7FD2FE}"/>
              </a:ext>
            </a:extLst>
          </p:cNvPr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6B0D5D-F35D-ABB3-0D15-95E1EFD502D4}"/>
              </a:ext>
            </a:extLst>
          </p:cNvPr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C045B1-6B89-1444-1255-3A5E292A01F1}"/>
              </a:ext>
            </a:extLst>
          </p:cNvPr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814B63-2D96-D3C7-A1FC-DEDC21058E5D}"/>
              </a:ext>
            </a:extLst>
          </p:cNvPr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6C4ED-D5E6-C487-6447-1534173162A2}"/>
              </a:ext>
            </a:extLst>
          </p:cNvPr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smartcampus.ece.fr/salles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94FA6-ED8A-3F86-7805-F20D75277675}"/>
              </a:ext>
            </a:extLst>
          </p:cNvPr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70D81-A807-167C-29E3-B7229869D783}"/>
              </a:ext>
            </a:extLst>
          </p:cNvPr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317036-AAFA-A642-C909-1FFD35CC8B04}"/>
              </a:ext>
            </a:extLst>
          </p:cNvPr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[ADMIN]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200E0F-62C5-D42D-4C33-78BDD851E03F}"/>
              </a:ext>
            </a:extLst>
          </p:cNvPr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007CAF-A374-57B0-16C4-063A93AAB6E7}"/>
              </a:ext>
            </a:extLst>
          </p:cNvPr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684CFE-9B26-8A29-A780-CC782404F886}"/>
              </a:ext>
            </a:extLst>
          </p:cNvPr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88B30-B786-C425-A0C3-1C1E96574AC0}"/>
              </a:ext>
            </a:extLst>
          </p:cNvPr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8402F-1EDA-B719-E1B5-907121A5EE18}"/>
              </a:ext>
            </a:extLst>
          </p:cNvPr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50DE06-FCBE-1DC0-CCA8-9D78205B7B96}"/>
              </a:ext>
            </a:extLst>
          </p:cNvPr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i="0" dirty="0">
                <a:solidFill>
                  <a:srgbClr val="202020"/>
                </a:solidFill>
              </a:rPr>
              <a:t>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7E6D53-2EA8-590E-5CA0-26B23E420C22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E0A388-EE7E-1097-CB9C-4E4B9920288C}"/>
              </a:ext>
            </a:extLst>
          </p:cNvPr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94F512-CDAC-4948-EA17-C142BBDE107B}"/>
              </a:ext>
            </a:extLst>
          </p:cNvPr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Tableau de bord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F2119D-31DB-25CB-8998-7494913B1A05}"/>
              </a:ext>
            </a:extLst>
          </p:cNvPr>
          <p:cNvSpPr/>
          <p:nvPr/>
        </p:nvSpPr>
        <p:spPr>
          <a:xfrm>
            <a:off x="640080" y="219456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83DD01-2556-8455-74F5-B47B7F76E08D}"/>
              </a:ext>
            </a:extLst>
          </p:cNvPr>
          <p:cNvSpPr txBox="1"/>
          <p:nvPr/>
        </p:nvSpPr>
        <p:spPr>
          <a:xfrm>
            <a:off x="822960" y="29924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202020"/>
                </a:solidFill>
                <a:latin typeface="Calibri"/>
              </a:rPr>
              <a:t>    Cours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4B7BE0-02EA-7ECC-C4E3-4E2B18B948A4}"/>
              </a:ext>
            </a:extLst>
          </p:cNvPr>
          <p:cNvSpPr txBox="1"/>
          <p:nvPr/>
        </p:nvSpPr>
        <p:spPr>
          <a:xfrm>
            <a:off x="822960" y="3532704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dirty="0">
                <a:solidFill>
                  <a:srgbClr val="202020"/>
                </a:solidFill>
                <a:latin typeface="Calibri"/>
              </a:rPr>
              <a:t>    </a:t>
            </a:r>
            <a:r>
              <a:rPr sz="1000" i="0" dirty="0">
                <a:solidFill>
                  <a:srgbClr val="202020"/>
                </a:solidFill>
                <a:latin typeface="Calibri"/>
              </a:rPr>
              <a:t>Salles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2F2856-6935-9FB7-AA26-BEE041352484}"/>
              </a:ext>
            </a:extLst>
          </p:cNvPr>
          <p:cNvSpPr txBox="1"/>
          <p:nvPr/>
        </p:nvSpPr>
        <p:spPr>
          <a:xfrm>
            <a:off x="822960" y="381538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Semestres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B8D175-4D79-9C52-8D21-84A2781A71E4}"/>
              </a:ext>
            </a:extLst>
          </p:cNvPr>
          <p:cNvSpPr txBox="1"/>
          <p:nvPr/>
        </p:nvSpPr>
        <p:spPr>
          <a:xfrm>
            <a:off x="822960" y="422686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Notifications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E0DCC8-8CE8-F189-0413-1BA5DDF07F0C}"/>
              </a:ext>
            </a:extLst>
          </p:cNvPr>
          <p:cNvSpPr txBox="1"/>
          <p:nvPr/>
        </p:nvSpPr>
        <p:spPr>
          <a:xfrm>
            <a:off x="822960" y="463834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Parametres</a:t>
            </a:r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B80850E7-0CDD-557F-ECB2-54E859CA79FB}"/>
              </a:ext>
            </a:extLst>
          </p:cNvPr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F9ED1F3-B5B0-3831-E2D3-B470B0A4EEA6}"/>
              </a:ext>
            </a:extLst>
          </p:cNvPr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F3EFEDE5-8A85-5326-0F5F-47FC179F14B9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34362A91-3533-CA77-2FA6-4803E9FC4F98}"/>
              </a:ext>
            </a:extLst>
          </p:cNvPr>
          <p:cNvSpPr txBox="1"/>
          <p:nvPr/>
        </p:nvSpPr>
        <p:spPr>
          <a:xfrm>
            <a:off x="822960" y="273177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0" i="0" dirty="0">
                <a:solidFill>
                  <a:srgbClr val="202020"/>
                </a:solidFill>
                <a:latin typeface="Calibri"/>
              </a:rPr>
              <a:t>    Enseignants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928501-8F06-6196-A7FF-A4D359F29BCF}"/>
              </a:ext>
            </a:extLst>
          </p:cNvPr>
          <p:cNvSpPr txBox="1"/>
          <p:nvPr/>
        </p:nvSpPr>
        <p:spPr>
          <a:xfrm>
            <a:off x="822960" y="2323356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b="1" dirty="0">
                <a:solidFill>
                  <a:srgbClr val="202020"/>
                </a:solidFill>
                <a:latin typeface="Calibri"/>
              </a:rPr>
              <a:t>  &gt; Etudiants</a:t>
            </a:r>
            <a:endParaRPr sz="1000" b="1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FCC81B-240E-DE77-E99D-20AAB443C663}"/>
              </a:ext>
            </a:extLst>
          </p:cNvPr>
          <p:cNvSpPr/>
          <p:nvPr/>
        </p:nvSpPr>
        <p:spPr>
          <a:xfrm>
            <a:off x="9646920" y="1645920"/>
            <a:ext cx="182880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dirty="0">
                <a:solidFill>
                  <a:srgbClr val="202020"/>
                </a:solidFill>
              </a:rPr>
              <a:t>+ AJOUTER UN</a:t>
            </a:r>
            <a:r>
              <a:rPr lang="fr-FR" sz="900" b="1" dirty="0">
                <a:solidFill>
                  <a:srgbClr val="202020"/>
                </a:solidFill>
              </a:rPr>
              <a:t> ETUDIANT</a:t>
            </a:r>
            <a:endParaRPr sz="900" b="1" dirty="0">
              <a:solidFill>
                <a:srgbClr val="202020"/>
              </a:solidFill>
            </a:endParaRPr>
          </a:p>
        </p:txBody>
      </p:sp>
      <p:sp>
        <p:nvSpPr>
          <p:cNvPr id="93" name="TextBox 30">
            <a:extLst>
              <a:ext uri="{FF2B5EF4-FFF2-40B4-BE49-F238E27FC236}">
                <a16:creationId xmlns:a16="http://schemas.microsoft.com/office/drawing/2014/main" id="{668D4520-1EB3-A8F1-A3D6-9D235E3EF05B}"/>
              </a:ext>
            </a:extLst>
          </p:cNvPr>
          <p:cNvSpPr txBox="1"/>
          <p:nvPr/>
        </p:nvSpPr>
        <p:spPr>
          <a:xfrm>
            <a:off x="2606040" y="1600200"/>
            <a:ext cx="88696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2000" b="1" i="0" dirty="0">
                <a:solidFill>
                  <a:srgbClr val="202020"/>
                </a:solidFill>
                <a:latin typeface="Calibri"/>
              </a:rPr>
              <a:t>Gestion des </a:t>
            </a:r>
            <a:r>
              <a:rPr lang="fr-FR" sz="2000" b="1" i="0" dirty="0" err="1">
                <a:solidFill>
                  <a:srgbClr val="202020"/>
                </a:solidFill>
                <a:latin typeface="Calibri"/>
              </a:rPr>
              <a:t>etudiants</a:t>
            </a:r>
            <a:endParaRPr sz="20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E2FB2D5-72A1-A8DB-6944-34E6F9398A81}"/>
              </a:ext>
            </a:extLst>
          </p:cNvPr>
          <p:cNvSpPr/>
          <p:nvPr/>
        </p:nvSpPr>
        <p:spPr>
          <a:xfrm>
            <a:off x="2606040" y="2103120"/>
            <a:ext cx="4114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Rechercher un cours...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E15B559-799C-CE1B-053E-49B9C06A2BF8}"/>
              </a:ext>
            </a:extLst>
          </p:cNvPr>
          <p:cNvSpPr/>
          <p:nvPr/>
        </p:nvSpPr>
        <p:spPr>
          <a:xfrm>
            <a:off x="6903720" y="210312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Departement v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33DB5CE-781E-CF58-4CA7-6800F8696B6B}"/>
              </a:ext>
            </a:extLst>
          </p:cNvPr>
          <p:cNvSpPr/>
          <p:nvPr/>
        </p:nvSpPr>
        <p:spPr>
          <a:xfrm>
            <a:off x="8549640" y="210312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Semestre v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C1D2AAD-FF11-5827-CA13-2C8B871BBB11}"/>
              </a:ext>
            </a:extLst>
          </p:cNvPr>
          <p:cNvSpPr/>
          <p:nvPr/>
        </p:nvSpPr>
        <p:spPr>
          <a:xfrm>
            <a:off x="10195560" y="2103120"/>
            <a:ext cx="128016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FILTRER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15C4D21-B6FF-7C17-2802-BF1E19F7B28E}"/>
              </a:ext>
            </a:extLst>
          </p:cNvPr>
          <p:cNvSpPr/>
          <p:nvPr/>
        </p:nvSpPr>
        <p:spPr>
          <a:xfrm>
            <a:off x="2606040" y="2651760"/>
            <a:ext cx="882396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9" name="TextBox 36">
            <a:extLst>
              <a:ext uri="{FF2B5EF4-FFF2-40B4-BE49-F238E27FC236}">
                <a16:creationId xmlns:a16="http://schemas.microsoft.com/office/drawing/2014/main" id="{DB7EE525-1192-7EC2-EEB6-74EA56DE0538}"/>
              </a:ext>
            </a:extLst>
          </p:cNvPr>
          <p:cNvSpPr txBox="1"/>
          <p:nvPr/>
        </p:nvSpPr>
        <p:spPr>
          <a:xfrm>
            <a:off x="2697480" y="2757696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1" i="0" dirty="0" err="1">
                <a:solidFill>
                  <a:srgbClr val="202020"/>
                </a:solidFill>
                <a:latin typeface="Calibri"/>
              </a:rPr>
              <a:t>Numero</a:t>
            </a:r>
            <a:endParaRPr sz="10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0" name="TextBox 37">
            <a:extLst>
              <a:ext uri="{FF2B5EF4-FFF2-40B4-BE49-F238E27FC236}">
                <a16:creationId xmlns:a16="http://schemas.microsoft.com/office/drawing/2014/main" id="{2EEE25C8-17EC-D8B9-0CB6-A1BE66D8F529}"/>
              </a:ext>
            </a:extLst>
          </p:cNvPr>
          <p:cNvSpPr txBox="1"/>
          <p:nvPr/>
        </p:nvSpPr>
        <p:spPr>
          <a:xfrm>
            <a:off x="3611880" y="2757696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1" i="0" dirty="0">
                <a:solidFill>
                  <a:srgbClr val="202020"/>
                </a:solidFill>
                <a:latin typeface="Calibri"/>
              </a:rPr>
              <a:t>Nom complet</a:t>
            </a:r>
            <a:endParaRPr sz="10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1" name="TextBox 38">
            <a:extLst>
              <a:ext uri="{FF2B5EF4-FFF2-40B4-BE49-F238E27FC236}">
                <a16:creationId xmlns:a16="http://schemas.microsoft.com/office/drawing/2014/main" id="{8619B7EA-7430-2A42-3423-B64FF6C56985}"/>
              </a:ext>
            </a:extLst>
          </p:cNvPr>
          <p:cNvSpPr txBox="1"/>
          <p:nvPr/>
        </p:nvSpPr>
        <p:spPr>
          <a:xfrm>
            <a:off x="5029200" y="2757696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1" i="0" dirty="0">
                <a:solidFill>
                  <a:srgbClr val="202020"/>
                </a:solidFill>
                <a:latin typeface="Calibri"/>
              </a:rPr>
              <a:t>Email</a:t>
            </a:r>
            <a:endParaRPr sz="10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2" name="TextBox 39">
            <a:extLst>
              <a:ext uri="{FF2B5EF4-FFF2-40B4-BE49-F238E27FC236}">
                <a16:creationId xmlns:a16="http://schemas.microsoft.com/office/drawing/2014/main" id="{F6CD26FC-BB6D-63FA-A6B4-5E692539CA98}"/>
              </a:ext>
            </a:extLst>
          </p:cNvPr>
          <p:cNvSpPr txBox="1"/>
          <p:nvPr/>
        </p:nvSpPr>
        <p:spPr>
          <a:xfrm>
            <a:off x="9316539" y="2791152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1" i="0" dirty="0">
                <a:solidFill>
                  <a:srgbClr val="202020"/>
                </a:solidFill>
                <a:latin typeface="Calibri"/>
              </a:rPr>
              <a:t>Niveau</a:t>
            </a:r>
            <a:endParaRPr sz="10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3" name="TextBox 40">
            <a:extLst>
              <a:ext uri="{FF2B5EF4-FFF2-40B4-BE49-F238E27FC236}">
                <a16:creationId xmlns:a16="http://schemas.microsoft.com/office/drawing/2014/main" id="{AD7ABD6B-651F-1292-4189-FD2B50828080}"/>
              </a:ext>
            </a:extLst>
          </p:cNvPr>
          <p:cNvSpPr txBox="1"/>
          <p:nvPr/>
        </p:nvSpPr>
        <p:spPr>
          <a:xfrm>
            <a:off x="10454640" y="277442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1" i="0" dirty="0" err="1">
                <a:solidFill>
                  <a:srgbClr val="202020"/>
                </a:solidFill>
                <a:latin typeface="Calibri"/>
              </a:rPr>
              <a:t>Departement</a:t>
            </a:r>
            <a:endParaRPr sz="10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34E562A-D1BB-5F14-CF76-7EA64CB4D9FB}"/>
              </a:ext>
            </a:extLst>
          </p:cNvPr>
          <p:cNvSpPr/>
          <p:nvPr/>
        </p:nvSpPr>
        <p:spPr>
          <a:xfrm>
            <a:off x="2606040" y="3017520"/>
            <a:ext cx="88239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 dirty="0"/>
          </a:p>
        </p:txBody>
      </p:sp>
      <p:sp>
        <p:nvSpPr>
          <p:cNvPr id="106" name="TextBox 43">
            <a:extLst>
              <a:ext uri="{FF2B5EF4-FFF2-40B4-BE49-F238E27FC236}">
                <a16:creationId xmlns:a16="http://schemas.microsoft.com/office/drawing/2014/main" id="{52740025-9762-BB13-7FBF-5F4F9BDA403F}"/>
              </a:ext>
            </a:extLst>
          </p:cNvPr>
          <p:cNvSpPr txBox="1"/>
          <p:nvPr/>
        </p:nvSpPr>
        <p:spPr>
          <a:xfrm>
            <a:off x="2697480" y="30175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INF401</a:t>
            </a:r>
          </a:p>
        </p:txBody>
      </p:sp>
      <p:sp>
        <p:nvSpPr>
          <p:cNvPr id="107" name="TextBox 44">
            <a:extLst>
              <a:ext uri="{FF2B5EF4-FFF2-40B4-BE49-F238E27FC236}">
                <a16:creationId xmlns:a16="http://schemas.microsoft.com/office/drawing/2014/main" id="{258D1603-CFB7-A055-4773-DB4DE7225BF2}"/>
              </a:ext>
            </a:extLst>
          </p:cNvPr>
          <p:cNvSpPr txBox="1"/>
          <p:nvPr/>
        </p:nvSpPr>
        <p:spPr>
          <a:xfrm>
            <a:off x="3611880" y="3146316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Camille Bernard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8" name="TextBox 45">
            <a:extLst>
              <a:ext uri="{FF2B5EF4-FFF2-40B4-BE49-F238E27FC236}">
                <a16:creationId xmlns:a16="http://schemas.microsoft.com/office/drawing/2014/main" id="{713B8C15-8066-9BD8-9DCC-3F977AEEA203}"/>
              </a:ext>
            </a:extLst>
          </p:cNvPr>
          <p:cNvSpPr txBox="1"/>
          <p:nvPr/>
        </p:nvSpPr>
        <p:spPr>
          <a:xfrm>
            <a:off x="5029200" y="3154011"/>
            <a:ext cx="1874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dirty="0">
                <a:solidFill>
                  <a:srgbClr val="202020"/>
                </a:solidFill>
              </a:rPr>
              <a:t>Camille.Bernard@etu.smartcampus.fr</a:t>
            </a:r>
            <a:endParaRPr sz="9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09" name="TextBox 46">
            <a:extLst>
              <a:ext uri="{FF2B5EF4-FFF2-40B4-BE49-F238E27FC236}">
                <a16:creationId xmlns:a16="http://schemas.microsoft.com/office/drawing/2014/main" id="{FD015FFC-0C53-F2ED-1AEE-D0C225BFD52E}"/>
              </a:ext>
            </a:extLst>
          </p:cNvPr>
          <p:cNvSpPr txBox="1"/>
          <p:nvPr/>
        </p:nvSpPr>
        <p:spPr>
          <a:xfrm>
            <a:off x="9316539" y="3179772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0" i="0" dirty="0">
                <a:solidFill>
                  <a:srgbClr val="202020"/>
                </a:solidFill>
                <a:latin typeface="Calibri"/>
              </a:rPr>
              <a:t>L1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0" name="TextBox 47">
            <a:extLst>
              <a:ext uri="{FF2B5EF4-FFF2-40B4-BE49-F238E27FC236}">
                <a16:creationId xmlns:a16="http://schemas.microsoft.com/office/drawing/2014/main" id="{1A86FB1C-C59B-494D-A207-7FA95A76F227}"/>
              </a:ext>
            </a:extLst>
          </p:cNvPr>
          <p:cNvSpPr txBox="1"/>
          <p:nvPr/>
        </p:nvSpPr>
        <p:spPr>
          <a:xfrm>
            <a:off x="10454640" y="316304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—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2" name="TextBox 49">
            <a:extLst>
              <a:ext uri="{FF2B5EF4-FFF2-40B4-BE49-F238E27FC236}">
                <a16:creationId xmlns:a16="http://schemas.microsoft.com/office/drawing/2014/main" id="{6CE3348A-383A-1747-D309-399BF55E7F46}"/>
              </a:ext>
            </a:extLst>
          </p:cNvPr>
          <p:cNvSpPr txBox="1"/>
          <p:nvPr/>
        </p:nvSpPr>
        <p:spPr>
          <a:xfrm>
            <a:off x="2697480" y="34290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INF402</a:t>
            </a:r>
          </a:p>
        </p:txBody>
      </p:sp>
      <p:sp>
        <p:nvSpPr>
          <p:cNvPr id="113" name="TextBox 50">
            <a:extLst>
              <a:ext uri="{FF2B5EF4-FFF2-40B4-BE49-F238E27FC236}">
                <a16:creationId xmlns:a16="http://schemas.microsoft.com/office/drawing/2014/main" id="{824A4C03-4CFB-AA72-430D-EA0CA408B33E}"/>
              </a:ext>
            </a:extLst>
          </p:cNvPr>
          <p:cNvSpPr txBox="1"/>
          <p:nvPr/>
        </p:nvSpPr>
        <p:spPr>
          <a:xfrm>
            <a:off x="3611880" y="3557796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Chloé Bernard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4" name="TextBox 51">
            <a:extLst>
              <a:ext uri="{FF2B5EF4-FFF2-40B4-BE49-F238E27FC236}">
                <a16:creationId xmlns:a16="http://schemas.microsoft.com/office/drawing/2014/main" id="{7B50BE5D-7CB4-DAC5-981C-A11403122908}"/>
              </a:ext>
            </a:extLst>
          </p:cNvPr>
          <p:cNvSpPr txBox="1"/>
          <p:nvPr/>
        </p:nvSpPr>
        <p:spPr>
          <a:xfrm>
            <a:off x="5029200" y="3565490"/>
            <a:ext cx="1874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dirty="0">
                <a:solidFill>
                  <a:srgbClr val="202020"/>
                </a:solidFill>
              </a:rPr>
              <a:t>Chloé.Bernard@etu.smartcampus.fr</a:t>
            </a:r>
          </a:p>
        </p:txBody>
      </p:sp>
      <p:sp>
        <p:nvSpPr>
          <p:cNvPr id="115" name="TextBox 52">
            <a:extLst>
              <a:ext uri="{FF2B5EF4-FFF2-40B4-BE49-F238E27FC236}">
                <a16:creationId xmlns:a16="http://schemas.microsoft.com/office/drawing/2014/main" id="{E66C6803-D84B-EEAE-253B-9EB9D38206BA}"/>
              </a:ext>
            </a:extLst>
          </p:cNvPr>
          <p:cNvSpPr txBox="1"/>
          <p:nvPr/>
        </p:nvSpPr>
        <p:spPr>
          <a:xfrm>
            <a:off x="9316539" y="3591252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dirty="0">
                <a:solidFill>
                  <a:srgbClr val="202020"/>
                </a:solidFill>
                <a:latin typeface="Calibri"/>
              </a:rPr>
              <a:t>ING2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6" name="TextBox 53">
            <a:extLst>
              <a:ext uri="{FF2B5EF4-FFF2-40B4-BE49-F238E27FC236}">
                <a16:creationId xmlns:a16="http://schemas.microsoft.com/office/drawing/2014/main" id="{6EE0411A-A3D9-2497-0109-4C46B3C68491}"/>
              </a:ext>
            </a:extLst>
          </p:cNvPr>
          <p:cNvSpPr txBox="1"/>
          <p:nvPr/>
        </p:nvSpPr>
        <p:spPr>
          <a:xfrm>
            <a:off x="10454640" y="357452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—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03F1309-56C1-FEFA-9018-AA9AB5C87C38}"/>
              </a:ext>
            </a:extLst>
          </p:cNvPr>
          <p:cNvSpPr/>
          <p:nvPr/>
        </p:nvSpPr>
        <p:spPr>
          <a:xfrm>
            <a:off x="2606040" y="3840480"/>
            <a:ext cx="88239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19" name="TextBox 56">
            <a:extLst>
              <a:ext uri="{FF2B5EF4-FFF2-40B4-BE49-F238E27FC236}">
                <a16:creationId xmlns:a16="http://schemas.microsoft.com/office/drawing/2014/main" id="{0E2E7B5A-5AA0-3300-BCA7-87032B307469}"/>
              </a:ext>
            </a:extLst>
          </p:cNvPr>
          <p:cNvSpPr txBox="1"/>
          <p:nvPr/>
        </p:nvSpPr>
        <p:spPr>
          <a:xfrm>
            <a:off x="2697480" y="3840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INF403</a:t>
            </a:r>
          </a:p>
        </p:txBody>
      </p:sp>
      <p:sp>
        <p:nvSpPr>
          <p:cNvPr id="120" name="TextBox 57">
            <a:extLst>
              <a:ext uri="{FF2B5EF4-FFF2-40B4-BE49-F238E27FC236}">
                <a16:creationId xmlns:a16="http://schemas.microsoft.com/office/drawing/2014/main" id="{B340B8AE-E158-7480-3DEE-C23482B290BA}"/>
              </a:ext>
            </a:extLst>
          </p:cNvPr>
          <p:cNvSpPr txBox="1"/>
          <p:nvPr/>
        </p:nvSpPr>
        <p:spPr>
          <a:xfrm>
            <a:off x="3611880" y="3969276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Emma Bernard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21" name="TextBox 58">
            <a:extLst>
              <a:ext uri="{FF2B5EF4-FFF2-40B4-BE49-F238E27FC236}">
                <a16:creationId xmlns:a16="http://schemas.microsoft.com/office/drawing/2014/main" id="{68568D13-E4E4-F72B-49A2-716E13A5D617}"/>
              </a:ext>
            </a:extLst>
          </p:cNvPr>
          <p:cNvSpPr txBox="1"/>
          <p:nvPr/>
        </p:nvSpPr>
        <p:spPr>
          <a:xfrm>
            <a:off x="5029200" y="3976970"/>
            <a:ext cx="1874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dirty="0">
                <a:solidFill>
                  <a:srgbClr val="202020"/>
                </a:solidFill>
              </a:rPr>
              <a:t>Emma.Bernard@etu.smartcampus.fr</a:t>
            </a:r>
          </a:p>
        </p:txBody>
      </p:sp>
      <p:sp>
        <p:nvSpPr>
          <p:cNvPr id="122" name="TextBox 59">
            <a:extLst>
              <a:ext uri="{FF2B5EF4-FFF2-40B4-BE49-F238E27FC236}">
                <a16:creationId xmlns:a16="http://schemas.microsoft.com/office/drawing/2014/main" id="{034FCA09-D4FD-09AB-CAB0-4D3AADD8B77F}"/>
              </a:ext>
            </a:extLst>
          </p:cNvPr>
          <p:cNvSpPr txBox="1"/>
          <p:nvPr/>
        </p:nvSpPr>
        <p:spPr>
          <a:xfrm>
            <a:off x="9316539" y="4002732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dirty="0">
                <a:solidFill>
                  <a:srgbClr val="202020"/>
                </a:solidFill>
                <a:latin typeface="Calibri"/>
              </a:rPr>
              <a:t>M1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23" name="TextBox 60">
            <a:extLst>
              <a:ext uri="{FF2B5EF4-FFF2-40B4-BE49-F238E27FC236}">
                <a16:creationId xmlns:a16="http://schemas.microsoft.com/office/drawing/2014/main" id="{5A83D389-4B0D-46D4-5762-CDA98F7C39A5}"/>
              </a:ext>
            </a:extLst>
          </p:cNvPr>
          <p:cNvSpPr txBox="1"/>
          <p:nvPr/>
        </p:nvSpPr>
        <p:spPr>
          <a:xfrm>
            <a:off x="10454640" y="398600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0" i="0" dirty="0">
                <a:solidFill>
                  <a:srgbClr val="202020"/>
                </a:solidFill>
                <a:latin typeface="Calibri"/>
              </a:rPr>
              <a:t>Informatique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25" name="TextBox 62">
            <a:extLst>
              <a:ext uri="{FF2B5EF4-FFF2-40B4-BE49-F238E27FC236}">
                <a16:creationId xmlns:a16="http://schemas.microsoft.com/office/drawing/2014/main" id="{F7923AF0-A676-6CA9-8A72-0DE4A45556E1}"/>
              </a:ext>
            </a:extLst>
          </p:cNvPr>
          <p:cNvSpPr txBox="1"/>
          <p:nvPr/>
        </p:nvSpPr>
        <p:spPr>
          <a:xfrm>
            <a:off x="2697480" y="42519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MAT201</a:t>
            </a:r>
          </a:p>
        </p:txBody>
      </p:sp>
      <p:sp>
        <p:nvSpPr>
          <p:cNvPr id="126" name="TextBox 63">
            <a:extLst>
              <a:ext uri="{FF2B5EF4-FFF2-40B4-BE49-F238E27FC236}">
                <a16:creationId xmlns:a16="http://schemas.microsoft.com/office/drawing/2014/main" id="{07207647-9222-0C02-3C9A-D3D823642FE7}"/>
              </a:ext>
            </a:extLst>
          </p:cNvPr>
          <p:cNvSpPr txBox="1"/>
          <p:nvPr/>
        </p:nvSpPr>
        <p:spPr>
          <a:xfrm>
            <a:off x="3611880" y="4380756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Jules Bernard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27" name="TextBox 64">
            <a:extLst>
              <a:ext uri="{FF2B5EF4-FFF2-40B4-BE49-F238E27FC236}">
                <a16:creationId xmlns:a16="http://schemas.microsoft.com/office/drawing/2014/main" id="{80ECD93F-62F0-541C-3A42-16755EB5B551}"/>
              </a:ext>
            </a:extLst>
          </p:cNvPr>
          <p:cNvSpPr txBox="1"/>
          <p:nvPr/>
        </p:nvSpPr>
        <p:spPr>
          <a:xfrm>
            <a:off x="5029200" y="4388450"/>
            <a:ext cx="1874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dirty="0">
                <a:solidFill>
                  <a:srgbClr val="202020"/>
                </a:solidFill>
              </a:rPr>
              <a:t>Jules.Bernard@etu.smartcampus.fr</a:t>
            </a:r>
          </a:p>
        </p:txBody>
      </p:sp>
      <p:sp>
        <p:nvSpPr>
          <p:cNvPr id="128" name="TextBox 65">
            <a:extLst>
              <a:ext uri="{FF2B5EF4-FFF2-40B4-BE49-F238E27FC236}">
                <a16:creationId xmlns:a16="http://schemas.microsoft.com/office/drawing/2014/main" id="{57C02117-8FD2-8599-7071-D2066983E879}"/>
              </a:ext>
            </a:extLst>
          </p:cNvPr>
          <p:cNvSpPr txBox="1"/>
          <p:nvPr/>
        </p:nvSpPr>
        <p:spPr>
          <a:xfrm>
            <a:off x="9316539" y="4414212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dirty="0">
                <a:solidFill>
                  <a:srgbClr val="202020"/>
                </a:solidFill>
                <a:latin typeface="Calibri"/>
              </a:rPr>
              <a:t>L1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29" name="TextBox 66">
            <a:extLst>
              <a:ext uri="{FF2B5EF4-FFF2-40B4-BE49-F238E27FC236}">
                <a16:creationId xmlns:a16="http://schemas.microsoft.com/office/drawing/2014/main" id="{878C07F1-DB93-69F5-FC1D-5DBB22EF503E}"/>
              </a:ext>
            </a:extLst>
          </p:cNvPr>
          <p:cNvSpPr txBox="1"/>
          <p:nvPr/>
        </p:nvSpPr>
        <p:spPr>
          <a:xfrm>
            <a:off x="10454640" y="439748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—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C3958E0-A1FB-BEF4-C477-58F810339974}"/>
              </a:ext>
            </a:extLst>
          </p:cNvPr>
          <p:cNvSpPr/>
          <p:nvPr/>
        </p:nvSpPr>
        <p:spPr>
          <a:xfrm>
            <a:off x="2606040" y="4663440"/>
            <a:ext cx="88239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32" name="TextBox 69">
            <a:extLst>
              <a:ext uri="{FF2B5EF4-FFF2-40B4-BE49-F238E27FC236}">
                <a16:creationId xmlns:a16="http://schemas.microsoft.com/office/drawing/2014/main" id="{53E3ADBA-2B37-CF04-DF5D-18BED73E8D4B}"/>
              </a:ext>
            </a:extLst>
          </p:cNvPr>
          <p:cNvSpPr txBox="1"/>
          <p:nvPr/>
        </p:nvSpPr>
        <p:spPr>
          <a:xfrm>
            <a:off x="2697480" y="46634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ANG101</a:t>
            </a:r>
          </a:p>
        </p:txBody>
      </p:sp>
      <p:sp>
        <p:nvSpPr>
          <p:cNvPr id="133" name="TextBox 70">
            <a:extLst>
              <a:ext uri="{FF2B5EF4-FFF2-40B4-BE49-F238E27FC236}">
                <a16:creationId xmlns:a16="http://schemas.microsoft.com/office/drawing/2014/main" id="{50D8DF1C-0E8B-6031-6CE4-60B3B347DBB3}"/>
              </a:ext>
            </a:extLst>
          </p:cNvPr>
          <p:cNvSpPr txBox="1"/>
          <p:nvPr/>
        </p:nvSpPr>
        <p:spPr>
          <a:xfrm>
            <a:off x="3611880" y="4792236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000" dirty="0">
                <a:solidFill>
                  <a:srgbClr val="202020"/>
                </a:solidFill>
              </a:rPr>
              <a:t>Nathan Bernard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34" name="TextBox 71">
            <a:extLst>
              <a:ext uri="{FF2B5EF4-FFF2-40B4-BE49-F238E27FC236}">
                <a16:creationId xmlns:a16="http://schemas.microsoft.com/office/drawing/2014/main" id="{40A2642B-F94E-0047-CCD4-AAF8E588C9C0}"/>
              </a:ext>
            </a:extLst>
          </p:cNvPr>
          <p:cNvSpPr txBox="1"/>
          <p:nvPr/>
        </p:nvSpPr>
        <p:spPr>
          <a:xfrm>
            <a:off x="5029200" y="4799930"/>
            <a:ext cx="1874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dirty="0">
                <a:solidFill>
                  <a:srgbClr val="202020"/>
                </a:solidFill>
              </a:rPr>
              <a:t>Nathan.Bernard@etu.smartcampus.fr</a:t>
            </a:r>
          </a:p>
        </p:txBody>
      </p:sp>
      <p:sp>
        <p:nvSpPr>
          <p:cNvPr id="135" name="TextBox 72">
            <a:extLst>
              <a:ext uri="{FF2B5EF4-FFF2-40B4-BE49-F238E27FC236}">
                <a16:creationId xmlns:a16="http://schemas.microsoft.com/office/drawing/2014/main" id="{E1B308D0-BAC2-8725-106D-E60AD85B2EB5}"/>
              </a:ext>
            </a:extLst>
          </p:cNvPr>
          <p:cNvSpPr txBox="1"/>
          <p:nvPr/>
        </p:nvSpPr>
        <p:spPr>
          <a:xfrm>
            <a:off x="9316539" y="4825692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dirty="0">
                <a:solidFill>
                  <a:srgbClr val="202020"/>
                </a:solidFill>
                <a:latin typeface="Calibri"/>
              </a:rPr>
              <a:t>ING3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36" name="TextBox 73">
            <a:extLst>
              <a:ext uri="{FF2B5EF4-FFF2-40B4-BE49-F238E27FC236}">
                <a16:creationId xmlns:a16="http://schemas.microsoft.com/office/drawing/2014/main" id="{20CD2C1E-DA2A-D32E-BA4B-C53BAB6BC187}"/>
              </a:ext>
            </a:extLst>
          </p:cNvPr>
          <p:cNvSpPr txBox="1"/>
          <p:nvPr/>
        </p:nvSpPr>
        <p:spPr>
          <a:xfrm>
            <a:off x="10454640" y="480896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dirty="0" err="1">
                <a:solidFill>
                  <a:srgbClr val="202020"/>
                </a:solidFill>
                <a:latin typeface="Calibri"/>
              </a:rPr>
              <a:t>Mathematiques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97815D1-0348-5FC7-2D17-EE995D78F688}"/>
              </a:ext>
            </a:extLst>
          </p:cNvPr>
          <p:cNvSpPr/>
          <p:nvPr/>
        </p:nvSpPr>
        <p:spPr>
          <a:xfrm>
            <a:off x="5144494" y="1878312"/>
            <a:ext cx="3792772" cy="4215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59" name="TextBox 12">
            <a:extLst>
              <a:ext uri="{FF2B5EF4-FFF2-40B4-BE49-F238E27FC236}">
                <a16:creationId xmlns:a16="http://schemas.microsoft.com/office/drawing/2014/main" id="{26FB3D77-F924-3A0E-433F-C25C0E6A56EA}"/>
              </a:ext>
            </a:extLst>
          </p:cNvPr>
          <p:cNvSpPr txBox="1"/>
          <p:nvPr/>
        </p:nvSpPr>
        <p:spPr>
          <a:xfrm>
            <a:off x="5144494" y="2042904"/>
            <a:ext cx="379277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fr-FR" sz="1800" b="1" i="0" dirty="0">
                <a:solidFill>
                  <a:srgbClr val="202020"/>
                </a:solidFill>
                <a:latin typeface="Calibri"/>
              </a:rPr>
              <a:t>Ajouter</a:t>
            </a:r>
            <a:r>
              <a:rPr sz="1800" b="1" i="0" dirty="0">
                <a:solidFill>
                  <a:srgbClr val="202020"/>
                </a:solidFill>
                <a:latin typeface="Calibri"/>
              </a:rPr>
              <a:t> un </a:t>
            </a:r>
            <a:r>
              <a:rPr sz="1800" b="1" i="0" dirty="0" err="1">
                <a:solidFill>
                  <a:srgbClr val="202020"/>
                </a:solidFill>
                <a:latin typeface="Calibri"/>
              </a:rPr>
              <a:t>etudiant</a:t>
            </a:r>
            <a:endParaRPr sz="1800" b="1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60" name="TextBox 13">
            <a:extLst>
              <a:ext uri="{FF2B5EF4-FFF2-40B4-BE49-F238E27FC236}">
                <a16:creationId xmlns:a16="http://schemas.microsoft.com/office/drawing/2014/main" id="{552384B2-3227-7342-7ED5-A8EFDF580EBC}"/>
              </a:ext>
            </a:extLst>
          </p:cNvPr>
          <p:cNvSpPr txBox="1"/>
          <p:nvPr/>
        </p:nvSpPr>
        <p:spPr>
          <a:xfrm>
            <a:off x="5418814" y="2564112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Prenom :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7734276-7C61-0492-47FA-71A753B2FC43}"/>
              </a:ext>
            </a:extLst>
          </p:cNvPr>
          <p:cNvSpPr/>
          <p:nvPr/>
        </p:nvSpPr>
        <p:spPr>
          <a:xfrm>
            <a:off x="5418814" y="276528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Jean</a:t>
            </a:r>
          </a:p>
        </p:txBody>
      </p:sp>
      <p:sp>
        <p:nvSpPr>
          <p:cNvPr id="162" name="TextBox 15">
            <a:extLst>
              <a:ext uri="{FF2B5EF4-FFF2-40B4-BE49-F238E27FC236}">
                <a16:creationId xmlns:a16="http://schemas.microsoft.com/office/drawing/2014/main" id="{45DF3567-4F0A-1B53-4027-03E3B41FDF30}"/>
              </a:ext>
            </a:extLst>
          </p:cNvPr>
          <p:cNvSpPr txBox="1"/>
          <p:nvPr/>
        </p:nvSpPr>
        <p:spPr>
          <a:xfrm>
            <a:off x="7064734" y="2564112"/>
            <a:ext cx="149882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Nom :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9AA3B66-0A83-E412-5B61-BE8A6761F05F}"/>
              </a:ext>
            </a:extLst>
          </p:cNvPr>
          <p:cNvSpPr/>
          <p:nvPr/>
        </p:nvSpPr>
        <p:spPr>
          <a:xfrm>
            <a:off x="7064734" y="2765280"/>
            <a:ext cx="1498821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Dupont</a:t>
            </a:r>
          </a:p>
        </p:txBody>
      </p:sp>
      <p:sp>
        <p:nvSpPr>
          <p:cNvPr id="164" name="TextBox 17">
            <a:extLst>
              <a:ext uri="{FF2B5EF4-FFF2-40B4-BE49-F238E27FC236}">
                <a16:creationId xmlns:a16="http://schemas.microsoft.com/office/drawing/2014/main" id="{B929F347-C139-4954-467B-5113D4545797}"/>
              </a:ext>
            </a:extLst>
          </p:cNvPr>
          <p:cNvSpPr txBox="1"/>
          <p:nvPr/>
        </p:nvSpPr>
        <p:spPr>
          <a:xfrm>
            <a:off x="5418814" y="3112752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Numero etudiant :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2A70BF9-7687-72E7-9C52-D16B17293CBC}"/>
              </a:ext>
            </a:extLst>
          </p:cNvPr>
          <p:cNvSpPr/>
          <p:nvPr/>
        </p:nvSpPr>
        <p:spPr>
          <a:xfrm>
            <a:off x="5418814" y="331392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ECE12345</a:t>
            </a:r>
          </a:p>
        </p:txBody>
      </p:sp>
      <p:sp>
        <p:nvSpPr>
          <p:cNvPr id="166" name="TextBox 19">
            <a:extLst>
              <a:ext uri="{FF2B5EF4-FFF2-40B4-BE49-F238E27FC236}">
                <a16:creationId xmlns:a16="http://schemas.microsoft.com/office/drawing/2014/main" id="{07B7C500-4E54-D504-E439-DD3C4707A908}"/>
              </a:ext>
            </a:extLst>
          </p:cNvPr>
          <p:cNvSpPr txBox="1"/>
          <p:nvPr/>
        </p:nvSpPr>
        <p:spPr>
          <a:xfrm>
            <a:off x="7064734" y="3112752"/>
            <a:ext cx="149882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Email :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5344C10-1FE3-B74D-DE5C-8749750F0E0C}"/>
              </a:ext>
            </a:extLst>
          </p:cNvPr>
          <p:cNvSpPr/>
          <p:nvPr/>
        </p:nvSpPr>
        <p:spPr>
          <a:xfrm>
            <a:off x="7064734" y="3313920"/>
            <a:ext cx="1498821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jean.dupont@edu.ece.fr</a:t>
            </a:r>
          </a:p>
        </p:txBody>
      </p:sp>
      <p:sp>
        <p:nvSpPr>
          <p:cNvPr id="168" name="TextBox 21">
            <a:extLst>
              <a:ext uri="{FF2B5EF4-FFF2-40B4-BE49-F238E27FC236}">
                <a16:creationId xmlns:a16="http://schemas.microsoft.com/office/drawing/2014/main" id="{8082E414-237C-111A-895D-853D6799A1C3}"/>
              </a:ext>
            </a:extLst>
          </p:cNvPr>
          <p:cNvSpPr txBox="1"/>
          <p:nvPr/>
        </p:nvSpPr>
        <p:spPr>
          <a:xfrm>
            <a:off x="5418814" y="3661392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Niveau :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FBC2466-B845-AD52-DB74-116A68981DF2}"/>
              </a:ext>
            </a:extLst>
          </p:cNvPr>
          <p:cNvSpPr/>
          <p:nvPr/>
        </p:nvSpPr>
        <p:spPr>
          <a:xfrm>
            <a:off x="5418814" y="386256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L1 / L2 / L3 / M1 / M2</a:t>
            </a:r>
          </a:p>
        </p:txBody>
      </p:sp>
      <p:sp>
        <p:nvSpPr>
          <p:cNvPr id="170" name="TextBox 23">
            <a:extLst>
              <a:ext uri="{FF2B5EF4-FFF2-40B4-BE49-F238E27FC236}">
                <a16:creationId xmlns:a16="http://schemas.microsoft.com/office/drawing/2014/main" id="{9E7F17AE-77C8-592C-BB1B-549E0DB868A9}"/>
              </a:ext>
            </a:extLst>
          </p:cNvPr>
          <p:cNvSpPr txBox="1"/>
          <p:nvPr/>
        </p:nvSpPr>
        <p:spPr>
          <a:xfrm>
            <a:off x="7064734" y="3661392"/>
            <a:ext cx="149882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Departement :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617987D-8C12-EEF6-DB96-A2B1EA53E0E7}"/>
              </a:ext>
            </a:extLst>
          </p:cNvPr>
          <p:cNvSpPr/>
          <p:nvPr/>
        </p:nvSpPr>
        <p:spPr>
          <a:xfrm>
            <a:off x="7064734" y="3862560"/>
            <a:ext cx="1498821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Informatique, Mecanique...</a:t>
            </a:r>
          </a:p>
        </p:txBody>
      </p:sp>
      <p:sp>
        <p:nvSpPr>
          <p:cNvPr id="172" name="TextBox 25">
            <a:extLst>
              <a:ext uri="{FF2B5EF4-FFF2-40B4-BE49-F238E27FC236}">
                <a16:creationId xmlns:a16="http://schemas.microsoft.com/office/drawing/2014/main" id="{994857FE-EC64-A95A-22EA-E6D9686239B3}"/>
              </a:ext>
            </a:extLst>
          </p:cNvPr>
          <p:cNvSpPr txBox="1"/>
          <p:nvPr/>
        </p:nvSpPr>
        <p:spPr>
          <a:xfrm>
            <a:off x="5418814" y="4210032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Mot de passe :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8FEF869-EFD7-F320-7B47-24F2BA90F3FE}"/>
              </a:ext>
            </a:extLst>
          </p:cNvPr>
          <p:cNvSpPr/>
          <p:nvPr/>
        </p:nvSpPr>
        <p:spPr>
          <a:xfrm>
            <a:off x="5418814" y="441120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********</a:t>
            </a:r>
          </a:p>
        </p:txBody>
      </p:sp>
      <p:sp>
        <p:nvSpPr>
          <p:cNvPr id="174" name="TextBox 27">
            <a:extLst>
              <a:ext uri="{FF2B5EF4-FFF2-40B4-BE49-F238E27FC236}">
                <a16:creationId xmlns:a16="http://schemas.microsoft.com/office/drawing/2014/main" id="{18B5937B-794D-402D-AC0A-75F6B04CD640}"/>
              </a:ext>
            </a:extLst>
          </p:cNvPr>
          <p:cNvSpPr txBox="1"/>
          <p:nvPr/>
        </p:nvSpPr>
        <p:spPr>
          <a:xfrm>
            <a:off x="7064734" y="4210032"/>
            <a:ext cx="149882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Confirmer mot de passe :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1958549-707F-C926-D018-B29C5A1569EB}"/>
              </a:ext>
            </a:extLst>
          </p:cNvPr>
          <p:cNvSpPr/>
          <p:nvPr/>
        </p:nvSpPr>
        <p:spPr>
          <a:xfrm>
            <a:off x="7064734" y="4411200"/>
            <a:ext cx="1498821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********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4919206-0E25-07A9-4BD7-062494B87980}"/>
              </a:ext>
            </a:extLst>
          </p:cNvPr>
          <p:cNvSpPr/>
          <p:nvPr/>
        </p:nvSpPr>
        <p:spPr>
          <a:xfrm>
            <a:off x="5418814" y="5225017"/>
            <a:ext cx="133643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ANNULER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15CE717-9A53-7F3F-890E-F750D2728CF8}"/>
              </a:ext>
            </a:extLst>
          </p:cNvPr>
          <p:cNvSpPr/>
          <p:nvPr/>
        </p:nvSpPr>
        <p:spPr>
          <a:xfrm>
            <a:off x="7156175" y="5225017"/>
            <a:ext cx="146039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lang="fr-FR" sz="1000" b="1" dirty="0">
                <a:solidFill>
                  <a:srgbClr val="202020"/>
                </a:solidFill>
              </a:rPr>
              <a:t>Enregistrer</a:t>
            </a:r>
            <a:endParaRPr sz="1000" b="1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63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dirty="0">
                <a:solidFill>
                  <a:srgbClr val="555555"/>
                </a:solidFill>
                <a:latin typeface="Calibri"/>
              </a:rPr>
              <a:t>4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Admin - gestion des salles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smartcampus.ece.fr/salles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[ADMIN]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Gestion des salles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1645920"/>
            <a:ext cx="182880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+ AJOUTER UNE SALLE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2148840"/>
            <a:ext cx="3200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Rechercher (nom, batiment...)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14884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Batiment 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214884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Type 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2148840"/>
            <a:ext cx="2011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Disponibilite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2697480"/>
            <a:ext cx="886968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97480" y="2697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Nom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26974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Batiment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697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6974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Capacite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2697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Disponible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2697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Sessions a venir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Actions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063240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97480" y="306324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A101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30632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Bat.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306324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Cours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0632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06324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Oui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06324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202020"/>
                </a:solidFill>
                <a:latin typeface="Calibri"/>
              </a:rPr>
              <a:t>Voir / Modifier / Suppr.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7480" y="344728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A203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344728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Bat. 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344728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TP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4728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344728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Oui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44728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344728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202020"/>
                </a:solidFill>
                <a:latin typeface="Calibri"/>
              </a:rPr>
              <a:t>Voir / Modifier / Suppr.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40" y="3831336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97480" y="383133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B205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383133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Bat. 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383133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Cours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3831336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383133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Non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83133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29800" y="383133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202020"/>
                </a:solidFill>
                <a:latin typeface="Calibri"/>
              </a:rPr>
              <a:t>Voir / Modifier / Suppr.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97480" y="4215384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C110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60" y="4215384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Bat. 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421538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TP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4215384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421538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Oui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4215384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421538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202020"/>
                </a:solidFill>
                <a:latin typeface="Calibri"/>
              </a:rPr>
              <a:t>Voir / Modifier / Suppr.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4599432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59943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AMPHI1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60" y="459943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Bat. 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74920" y="459943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Amphi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599432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78040" y="459943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Oui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66760" y="459943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29800" y="459943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202020"/>
                </a:solidFill>
                <a:latin typeface="Calibri"/>
              </a:rPr>
              <a:t>Voir / Modifier / Suppr.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97480" y="498348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AMPHI2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94760" y="498348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Bat. 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4920" y="49834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Amphi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498348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180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78040" y="49834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Oui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66760" y="498348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29800" y="498348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202020"/>
                </a:solidFill>
                <a:latin typeface="Calibri"/>
              </a:rPr>
              <a:t>Voir / Modifier / Suppr.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06040" y="5623560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&lt; Precedent      Page 1 / 3      Suivant &gt;</a:t>
            </a: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8A2C062B-579B-ABD3-BB34-5467AABB6928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93" name="TextBox 21">
            <a:extLst>
              <a:ext uri="{FF2B5EF4-FFF2-40B4-BE49-F238E27FC236}">
                <a16:creationId xmlns:a16="http://schemas.microsoft.com/office/drawing/2014/main" id="{590E2F4F-EACD-B41E-C6C5-613973C02ABC}"/>
              </a:ext>
            </a:extLst>
          </p:cNvPr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Tableau de bord</a:t>
            </a: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9473A47D-6325-6F48-C08A-03A509C8194A}"/>
              </a:ext>
            </a:extLst>
          </p:cNvPr>
          <p:cNvSpPr txBox="1"/>
          <p:nvPr/>
        </p:nvSpPr>
        <p:spPr>
          <a:xfrm>
            <a:off x="822960" y="2323356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0" i="0" dirty="0">
                <a:solidFill>
                  <a:srgbClr val="202020"/>
                </a:solidFill>
                <a:latin typeface="Calibri"/>
              </a:rPr>
              <a:t>    </a:t>
            </a:r>
            <a:r>
              <a:rPr lang="fr-FR" sz="1000" dirty="0">
                <a:solidFill>
                  <a:srgbClr val="202020"/>
                </a:solidFill>
                <a:latin typeface="Calibri"/>
              </a:rPr>
              <a:t>E</a:t>
            </a:r>
            <a:r>
              <a:rPr lang="fr-FR" sz="1000" b="0" i="0" dirty="0">
                <a:solidFill>
                  <a:srgbClr val="202020"/>
                </a:solidFill>
                <a:latin typeface="Calibri"/>
              </a:rPr>
              <a:t>tudiants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A744A045-33BE-104B-3B83-9804132D24BA}"/>
              </a:ext>
            </a:extLst>
          </p:cNvPr>
          <p:cNvSpPr txBox="1"/>
          <p:nvPr/>
        </p:nvSpPr>
        <p:spPr>
          <a:xfrm>
            <a:off x="822960" y="29924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Cours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6CFBC38-AE25-D987-7CC4-01CC4A755820}"/>
              </a:ext>
            </a:extLst>
          </p:cNvPr>
          <p:cNvSpPr/>
          <p:nvPr/>
        </p:nvSpPr>
        <p:spPr>
          <a:xfrm>
            <a:off x="640080" y="3403908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7" name="TextBox 25">
            <a:extLst>
              <a:ext uri="{FF2B5EF4-FFF2-40B4-BE49-F238E27FC236}">
                <a16:creationId xmlns:a16="http://schemas.microsoft.com/office/drawing/2014/main" id="{C193E806-C254-FF11-22BC-1DBC250A3046}"/>
              </a:ext>
            </a:extLst>
          </p:cNvPr>
          <p:cNvSpPr txBox="1"/>
          <p:nvPr/>
        </p:nvSpPr>
        <p:spPr>
          <a:xfrm>
            <a:off x="822960" y="340390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Salles</a:t>
            </a:r>
          </a:p>
        </p:txBody>
      </p:sp>
      <p:sp>
        <p:nvSpPr>
          <p:cNvPr id="98" name="TextBox 26">
            <a:extLst>
              <a:ext uri="{FF2B5EF4-FFF2-40B4-BE49-F238E27FC236}">
                <a16:creationId xmlns:a16="http://schemas.microsoft.com/office/drawing/2014/main" id="{177AA4B3-AA65-84F1-DC1E-552B9784751D}"/>
              </a:ext>
            </a:extLst>
          </p:cNvPr>
          <p:cNvSpPr txBox="1"/>
          <p:nvPr/>
        </p:nvSpPr>
        <p:spPr>
          <a:xfrm>
            <a:off x="822960" y="381538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Semestres</a:t>
            </a:r>
          </a:p>
        </p:txBody>
      </p:sp>
      <p:sp>
        <p:nvSpPr>
          <p:cNvPr id="99" name="TextBox 27">
            <a:extLst>
              <a:ext uri="{FF2B5EF4-FFF2-40B4-BE49-F238E27FC236}">
                <a16:creationId xmlns:a16="http://schemas.microsoft.com/office/drawing/2014/main" id="{CC240674-50E6-B4E1-8F7D-6A2C636AA28D}"/>
              </a:ext>
            </a:extLst>
          </p:cNvPr>
          <p:cNvSpPr txBox="1"/>
          <p:nvPr/>
        </p:nvSpPr>
        <p:spPr>
          <a:xfrm>
            <a:off x="822960" y="422686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Notifications</a:t>
            </a:r>
          </a:p>
        </p:txBody>
      </p:sp>
      <p:sp>
        <p:nvSpPr>
          <p:cNvPr id="100" name="TextBox 28">
            <a:extLst>
              <a:ext uri="{FF2B5EF4-FFF2-40B4-BE49-F238E27FC236}">
                <a16:creationId xmlns:a16="http://schemas.microsoft.com/office/drawing/2014/main" id="{44FC81F9-8446-9D9A-8B05-146B6AC77080}"/>
              </a:ext>
            </a:extLst>
          </p:cNvPr>
          <p:cNvSpPr txBox="1"/>
          <p:nvPr/>
        </p:nvSpPr>
        <p:spPr>
          <a:xfrm>
            <a:off x="822960" y="463834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Parametres</a:t>
            </a:r>
          </a:p>
        </p:txBody>
      </p:sp>
      <p:sp>
        <p:nvSpPr>
          <p:cNvPr id="101" name="TextBox 23">
            <a:extLst>
              <a:ext uri="{FF2B5EF4-FFF2-40B4-BE49-F238E27FC236}">
                <a16:creationId xmlns:a16="http://schemas.microsoft.com/office/drawing/2014/main" id="{A3797D8A-9D13-0CC4-0532-C5A4F1D4812C}"/>
              </a:ext>
            </a:extLst>
          </p:cNvPr>
          <p:cNvSpPr txBox="1"/>
          <p:nvPr/>
        </p:nvSpPr>
        <p:spPr>
          <a:xfrm>
            <a:off x="822960" y="273177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1000" b="0" i="0" dirty="0">
                <a:solidFill>
                  <a:srgbClr val="202020"/>
                </a:solidFill>
                <a:latin typeface="Calibri"/>
              </a:rPr>
              <a:t>    Enseignants</a:t>
            </a:r>
            <a:endParaRPr sz="1000" b="0" i="0" dirty="0">
              <a:solidFill>
                <a:srgbClr val="20202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5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Dashboard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etudiant</a:t>
            </a:r>
            <a:endParaRPr sz="1200" b="1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smartcampus.ece.fr/accueil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[ETUDIANT]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640080" y="178308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Accueil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69276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02020"/>
                </a:solidFill>
                <a:latin typeface="Calibri"/>
              </a:rPr>
              <a:t>Bonjour Jean Dupont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1965960"/>
            <a:ext cx="8869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Semestre S4 - L2 Informatique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MOYENNE
GENERALE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14.2 / 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COURS
SUIVIS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0372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TAUX DE
PRESENCE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92 %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MESSAGES
NON 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5661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Prochains cours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88620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88920" y="39776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* Lun. 09:00 - Algo - Salle A101 - M. Martin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788920" y="4389120"/>
            <a:ext cx="3931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88920" y="44805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* Lun. 14:00 - Reseaux - Salle B205 - Mme Lefevre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788920" y="4892040"/>
            <a:ext cx="3931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788920" y="4983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* Mar. 10:00 - BDD - Salle A203 - M. Bernard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788920" y="5394960"/>
            <a:ext cx="3931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788920" y="54864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* Mer. 13:30 - Web - Salle C110 - Mme Petit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35661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Notifications recentes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78040" y="388620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60920" y="397764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[NOTE]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9776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Nouvelle note publiee : Algo - 15/20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60920" y="4389120"/>
            <a:ext cx="4023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60920" y="4480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[ALERTE]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4805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Taux d'absences : 32% en Reseaux (seuil)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60920" y="4892040"/>
            <a:ext cx="4023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360920" y="4983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[MSG]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983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Nouveau message de M. Martin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360920" y="5394960"/>
            <a:ext cx="4023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60920" y="54864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[INSC]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486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Inscription validee : Web S4</a:t>
            </a:r>
          </a:p>
        </p:txBody>
      </p:sp>
      <p:sp>
        <p:nvSpPr>
          <p:cNvPr id="67" name="TextBox 10">
            <a:extLst>
              <a:ext uri="{FF2B5EF4-FFF2-40B4-BE49-F238E27FC236}">
                <a16:creationId xmlns:a16="http://schemas.microsoft.com/office/drawing/2014/main" id="{D2BB1545-AD52-1C3B-2AF1-20DCF8CD405B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68" name="Oval 18">
            <a:extLst>
              <a:ext uri="{FF2B5EF4-FFF2-40B4-BE49-F238E27FC236}">
                <a16:creationId xmlns:a16="http://schemas.microsoft.com/office/drawing/2014/main" id="{CEA92591-1F9F-D47A-29C1-0D8446A4F39F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6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Inscription aux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cours</a:t>
            </a:r>
            <a:endParaRPr sz="1200" b="1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smartcampus.ece.fr/mes-cours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[ETUDIANT]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Accueil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9456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Mes cours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Inscription aux cours - Semestre S4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103120"/>
            <a:ext cx="4114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Rechercher un cours...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210312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Departement 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210312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Semestre 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2103120"/>
            <a:ext cx="128016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FILTRER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2651760"/>
            <a:ext cx="795528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651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6517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Intitule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6517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Enseignant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517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Credits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651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Places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6517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017520"/>
            <a:ext cx="795528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97480" y="30175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INF401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3017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Algorithmique avancee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30175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M. Martin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01752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0175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28 / 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07238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S'inscrire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80" y="34290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INF402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342900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Bases de donnees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342900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M. Bernard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4290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4290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30 / 30 [COMPLET]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348386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Liste attente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840480"/>
            <a:ext cx="795528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97480" y="3840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INF403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80" y="38404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Programmation Web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38404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Mme Petit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84048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3840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12 / 25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389534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S'inscrire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97480" y="42519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MAT201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1880" y="42519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Probabilites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9320" y="42519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M. Durand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25196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42519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18 / 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81160" y="430682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S'inscrire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40" y="4663440"/>
            <a:ext cx="795528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97480" y="46634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ANG101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11880" y="46634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Anglais B2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89320" y="46634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Mme Smith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466344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46634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20 / 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1160" y="471830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S'inscrire</a:t>
            </a: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C403295B-8EF5-1A8B-5944-E3651DCE761C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7" name="Oval 18">
            <a:extLst>
              <a:ext uri="{FF2B5EF4-FFF2-40B4-BE49-F238E27FC236}">
                <a16:creationId xmlns:a16="http://schemas.microsoft.com/office/drawing/2014/main" id="{6B0C5AF1-9928-822D-3996-7D9EF75BE357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7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Releve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de notes / Bulletin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[ETUDIANT]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>
                <a:solidFill>
                  <a:srgbClr val="202020"/>
                </a:solidFill>
              </a:rPr>
              <a:t> 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Accueil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60604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Mon releve de notes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1645920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Semestre S4 - 2025/26  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148840"/>
            <a:ext cx="88696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21945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Moyenne generale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1945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14.2 /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1945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Mention BIEN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21945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Credits valides : 24 / 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2971800"/>
            <a:ext cx="886968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97480" y="2971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9718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9718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2971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Coef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9718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Moyenne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29718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Credits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971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Commentaire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337560"/>
            <a:ext cx="886968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97480" y="33375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Algorithmique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337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Examen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3375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3375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3375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14.5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3337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Tres bon travail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7480" y="3703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Algorithmique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37033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TP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3703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703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9640" y="37033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372600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606040" y="4069080"/>
            <a:ext cx="886968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97480" y="4069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Bases donnees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4069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Examen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069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516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069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12.0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40690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4069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97480" y="44348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Web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7800" y="44348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Projet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44348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5160" y="4434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15.5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640" y="443484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2600" y="4434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Excellent rendu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4800600"/>
            <a:ext cx="886968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800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Web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57800" y="48006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Controle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48006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48006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48006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49640" y="48006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372600" y="4800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697480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Probabilites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57800" y="51663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Examen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51663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51663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5166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11.5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49640" y="51663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72600" y="51663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Peut mieux faire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06040" y="5532120"/>
            <a:ext cx="886968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697480" y="5532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Anglais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57800" y="55321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Oral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55321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55321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5532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14.0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49640" y="55321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72600" y="5532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06040" y="6126480"/>
            <a:ext cx="1828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TELECHARGER PDF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26280" y="6126480"/>
            <a:ext cx="1463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dirty="0">
                <a:solidFill>
                  <a:srgbClr val="202020"/>
                </a:solidFill>
              </a:rPr>
              <a:t>IMPRIMER</a:t>
            </a:r>
          </a:p>
        </p:txBody>
      </p:sp>
      <p:sp>
        <p:nvSpPr>
          <p:cNvPr id="101" name="TextBox 10">
            <a:extLst>
              <a:ext uri="{FF2B5EF4-FFF2-40B4-BE49-F238E27FC236}">
                <a16:creationId xmlns:a16="http://schemas.microsoft.com/office/drawing/2014/main" id="{A8FCCEA9-3030-EEB9-03DF-7AEE1A53EE43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102" name="Oval 18">
            <a:extLst>
              <a:ext uri="{FF2B5EF4-FFF2-40B4-BE49-F238E27FC236}">
                <a16:creationId xmlns:a16="http://schemas.microsoft.com/office/drawing/2014/main" id="{8158DD2C-73BA-60AA-0BF2-E644FC7A7998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8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Mes presences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smartcampus.ece.fr/presences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[ETUDIANT]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Accueil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1752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Mes presences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1645920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Cours 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148840"/>
            <a:ext cx="210312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Algorithmique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2468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2880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1 abs.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148840"/>
            <a:ext cx="2103120" cy="109728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Reseaux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2468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68%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2880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10 abs.  [!] ALERTE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2148840"/>
            <a:ext cx="210312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8660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2468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2880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0 abs.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2148840"/>
            <a:ext cx="210312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Anglais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468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85%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880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Calibri"/>
              </a:rPr>
              <a:t>3 abs.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33832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Detail des seances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703320"/>
            <a:ext cx="886968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97480" y="37033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37033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Heure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703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Salle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37033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Statut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3703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Justifier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4069080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97480" y="406908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25/05/26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406908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09:00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406908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Algorithmique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5160" y="4069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A101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406908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Present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406908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7480" y="445312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25/05/26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445312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14:00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0600" y="445312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Reseaux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95160" y="445312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B205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83880" y="445312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Absent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64040" y="4507992"/>
            <a:ext cx="1920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Justifier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06040" y="4837176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97480" y="483717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26/05/26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94760" y="483717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10:00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0" y="4837176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Bases donnees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60" y="483717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A203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483717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Retard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64040" y="483717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97480" y="5221224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27/05/26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60" y="522122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13:30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5221224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Web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522122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C110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3880" y="5221224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Present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64040" y="522122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-</a:t>
            </a:r>
          </a:p>
        </p:txBody>
      </p:sp>
      <p:sp>
        <p:nvSpPr>
          <p:cNvPr id="83" name="TextBox 10">
            <a:extLst>
              <a:ext uri="{FF2B5EF4-FFF2-40B4-BE49-F238E27FC236}">
                <a16:creationId xmlns:a16="http://schemas.microsoft.com/office/drawing/2014/main" id="{CD1D9DEC-DDEA-C416-1950-871B1D8A4104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84" name="Oval 18">
            <a:extLst>
              <a:ext uri="{FF2B5EF4-FFF2-40B4-BE49-F238E27FC236}">
                <a16:creationId xmlns:a16="http://schemas.microsoft.com/office/drawing/2014/main" id="{2201CCD2-2F70-9B3D-436C-CB9560BBEE14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9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Messagerie</a:t>
            </a:r>
            <a:endParaRPr sz="1200" b="1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smartcampus.ece.fr/messages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[ETUDIANT]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Accueil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2900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Messagerie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1645920"/>
            <a:ext cx="182880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+ NOUVEAU MESSAGE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148840"/>
            <a:ext cx="182880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 i="0">
                <a:solidFill>
                  <a:srgbClr val="555555"/>
                </a:solidFill>
              </a:rPr>
              <a:t>Reception (3)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148840"/>
            <a:ext cx="1828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Envoyes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56032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606040" y="2560320"/>
            <a:ext cx="3657600" cy="6400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0" y="260604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[*] M. Martin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6060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Hier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283464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Re: Question TP3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97480" y="3154680"/>
            <a:ext cx="34747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43200" y="32461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[*] Mme Petit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246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Lun.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4747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Projet Web - rendu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97480" y="3794760"/>
            <a:ext cx="34747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43200" y="3886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[*] Admin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886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12/05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11480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Verrouillage S3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697480" y="4434840"/>
            <a:ext cx="34747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43200" y="45262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  M. Bernard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5262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10/05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7548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Cours reporte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97480" y="5074920"/>
            <a:ext cx="34747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743200" y="516636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  Mme Lefevre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51663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08/05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539496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Note partiel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560320"/>
            <a:ext cx="5029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29400" y="26517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Re: Question TP3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301752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De : M. Martin  |  A : moi  |  25/05/2026 14:30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629400" y="3337560"/>
            <a:ext cx="46634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629400" y="347472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Bonjour Jean,
Voici la correction du TP3 demandee. N'hesitez pas a me recontacter si vous avez des questions.
Cordialement,
M. Martin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29400" y="5349240"/>
            <a:ext cx="118872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REPONDRE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09560" y="5349240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TRANSFERER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20" y="5349240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SUPPRIMER</a:t>
            </a: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081441F6-97BB-0B5C-3926-2D4C303C3264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65" name="Oval 18">
            <a:extLst>
              <a:ext uri="{FF2B5EF4-FFF2-40B4-BE49-F238E27FC236}">
                <a16:creationId xmlns:a16="http://schemas.microsoft.com/office/drawing/2014/main" id="{3E4D1FA1-FF5A-4888-17E3-56834608DF7B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10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Dashboard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enseignant</a:t>
            </a:r>
            <a:endParaRPr sz="1200" b="1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smartcampus.ece.fr/accueil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[ENSEIGNANT]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178308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Accueil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Bonjour M. Martin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1965960"/>
            <a:ext cx="8869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Departement Informatique  |  3 cours actifs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MES
COURS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ETUDIANTS
SUIVIS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0372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NOTES A
SAISIR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194560"/>
            <a:ext cx="2011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2286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555555"/>
                </a:solidFill>
                <a:latin typeface="Calibri"/>
              </a:rPr>
              <a:t>ALERTES
ABSENCES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6974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5661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88620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88920" y="40233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  <a:latin typeface="Calibri"/>
              </a:rPr>
              <a:t>INF401 Algorithmique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40233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30 etu.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7880" y="41605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Saisir notes &gt;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788920" y="4617720"/>
            <a:ext cx="3931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788920" y="46634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  <a:latin typeface="Calibri"/>
              </a:rPr>
              <a:t>INF403 Programmation Web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46634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25 etu.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97880" y="48006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Saisir notes &gt;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788920" y="5257800"/>
            <a:ext cx="393192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788920" y="53035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  <a:latin typeface="Calibri"/>
              </a:rPr>
              <a:t>INF310 Reseaux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66360" y="53035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23 etu.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97880" y="54406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Faire l'appel 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35661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Etudiants en alerte d'absences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388620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60920" y="40233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[!] Lea Bernard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40233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Reseaux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40233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202020"/>
                </a:solidFill>
                <a:latin typeface="Calibri"/>
              </a:rPr>
              <a:t>45 %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360920" y="4480560"/>
            <a:ext cx="4023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360920" y="45262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[!] Theo Roux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452628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Reseaux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87000" y="4526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202020"/>
                </a:solidFill>
                <a:latin typeface="Calibri"/>
              </a:rPr>
              <a:t>38 %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60920" y="4983480"/>
            <a:ext cx="4023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360920" y="502920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[!] Sara Dubois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6840" y="5029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Algo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87000" y="50292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202020"/>
                </a:solidFill>
                <a:latin typeface="Calibri"/>
              </a:rPr>
              <a:t>33 %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360920" y="5486400"/>
            <a:ext cx="4023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360920" y="55321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[!] Karim Bouzid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553212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Reseaux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87000" y="55321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202020"/>
                </a:solidFill>
                <a:latin typeface="Calibri"/>
              </a:rPr>
              <a:t>31 %</a:t>
            </a:r>
          </a:p>
        </p:txBody>
      </p:sp>
      <p:sp>
        <p:nvSpPr>
          <p:cNvPr id="75" name="TextBox 10">
            <a:extLst>
              <a:ext uri="{FF2B5EF4-FFF2-40B4-BE49-F238E27FC236}">
                <a16:creationId xmlns:a16="http://schemas.microsoft.com/office/drawing/2014/main" id="{7A6528F7-3FEA-58DC-EF3B-9FBAD956E2BC}"/>
              </a:ext>
            </a:extLst>
          </p:cNvPr>
          <p:cNvSpPr txBox="1"/>
          <p:nvPr/>
        </p:nvSpPr>
        <p:spPr>
          <a:xfrm>
            <a:off x="-1143000" y="6184664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6" name="Oval 18">
            <a:extLst>
              <a:ext uri="{FF2B5EF4-FFF2-40B4-BE49-F238E27FC236}">
                <a16:creationId xmlns:a16="http://schemas.microsoft.com/office/drawing/2014/main" id="{AC6E763A-7777-B21E-0515-051C1340B2EF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#1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1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Saisie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de notes (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enseignant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[ENSEIGNANT]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Accueil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60604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Saisie de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2057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Cours 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286000"/>
            <a:ext cx="27432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INF401 Algorithmique  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057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Type d'evaluation 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2286000"/>
            <a:ext cx="20116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Examen 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0574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Coef. 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2286000"/>
            <a:ext cx="7315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2286000"/>
            <a:ext cx="201168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+ AJOUTER COLONNE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788920"/>
            <a:ext cx="886968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80" y="27889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N°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2788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Etudiant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Note /20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27889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Coef.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Commentaire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27889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154680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97480" y="315468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315468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Bernard Lea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32120" y="3209544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14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3209544"/>
            <a:ext cx="640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60" y="3209544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3209544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Enregistrer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3538728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353872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Bouzid Karim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32120" y="3593592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593592"/>
            <a:ext cx="640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60" y="3593592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Effort a fournir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95560" y="3593592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Enregistrer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3922776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97480" y="392277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3922776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Dubois Sara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2120" y="39776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9400" y="3977640"/>
            <a:ext cx="640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3977640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Excellent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95560" y="3977640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Enregistrer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80" y="4306824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120" y="430682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Dupont Jean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4361688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15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29400" y="4361688"/>
            <a:ext cx="640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52360" y="4361688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Bon travail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95560" y="4361688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Enregistrer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4690872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697480" y="469087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4690872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Roux Theo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2120" y="4745736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...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4745736"/>
            <a:ext cx="640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52360" y="4745736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...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95560" y="4745736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Enregistrer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97480" y="50749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50749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Smith Anna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32120" y="5129784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5129784"/>
            <a:ext cx="640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52360" y="5129784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95560" y="5129784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800" b="1">
                <a:solidFill>
                  <a:srgbClr val="202020"/>
                </a:solidFill>
              </a:rPr>
              <a:t>Enregistrer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40" y="56235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ANNULER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46920" y="5623560"/>
            <a:ext cx="182880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TOUT ENREGISTRER</a:t>
            </a:r>
          </a:p>
        </p:txBody>
      </p:sp>
      <p:sp>
        <p:nvSpPr>
          <p:cNvPr id="87" name="TextBox 10">
            <a:extLst>
              <a:ext uri="{FF2B5EF4-FFF2-40B4-BE49-F238E27FC236}">
                <a16:creationId xmlns:a16="http://schemas.microsoft.com/office/drawing/2014/main" id="{B7F6405A-67E7-E80D-7185-5276DFA5AA1B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88" name="Oval 18">
            <a:extLst>
              <a:ext uri="{FF2B5EF4-FFF2-40B4-BE49-F238E27FC236}">
                <a16:creationId xmlns:a16="http://schemas.microsoft.com/office/drawing/2014/main" id="{9314DCC5-6DE7-F051-C22E-33449F0A764B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555555"/>
                </a:solidFill>
                <a:latin typeface="Calibri"/>
              </a:rPr>
              <a:t>Wireframe #1</a:t>
            </a:r>
            <a:r>
              <a:rPr lang="fr-FR" sz="1200" b="1" i="0" dirty="0">
                <a:solidFill>
                  <a:srgbClr val="555555"/>
                </a:solidFill>
                <a:latin typeface="Calibri"/>
              </a:rPr>
              <a:t>2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- 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Saisie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 de presences (</a:t>
            </a:r>
            <a:r>
              <a:rPr sz="1200" b="1" i="0" dirty="0" err="1">
                <a:solidFill>
                  <a:srgbClr val="555555"/>
                </a:solidFill>
                <a:latin typeface="Calibri"/>
              </a:rPr>
              <a:t>appel</a:t>
            </a:r>
            <a:r>
              <a:rPr sz="1200" b="1" i="0" dirty="0">
                <a:solidFill>
                  <a:srgbClr val="555555"/>
                </a:solidFill>
                <a:latin typeface="Calibri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064240" cy="6126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630936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39496"/>
            <a:ext cx="10149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smartcampus.ece.fr/presences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14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14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  <a:latin typeface="Calibri"/>
              </a:rPr>
              <a:t>[ENSEIGNANT]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 cours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9144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24128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202020"/>
                </a:solidFill>
              </a:rPr>
              <a:t>  </a:t>
            </a:r>
            <a:r>
              <a:rPr lang="fr-FR" sz="900" b="1" dirty="0">
                <a:solidFill>
                  <a:srgbClr val="202020"/>
                </a:solidFill>
              </a:rPr>
              <a:t> Notif : 3</a:t>
            </a:r>
            <a:endParaRPr sz="900" b="1" i="0" dirty="0">
              <a:solidFill>
                <a:srgbClr val="20202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1508760"/>
            <a:ext cx="1828800" cy="48920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Accueil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1752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&gt; Presences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108813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909090"/>
                </a:solidFill>
                <a:latin typeface="Calibri"/>
              </a:rPr>
              <a:t>SmartCampus - TD6 Equipe 8  |  Mentions legales  |  Contact  |  ©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02020"/>
                </a:solidFill>
                <a:latin typeface="Calibri"/>
              </a:rPr>
              <a:t>Faire l'appel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057400"/>
            <a:ext cx="88696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21031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  <a:latin typeface="Calibri"/>
              </a:rPr>
              <a:t>Seance : INF401 Algorithmique  -  Mardi 25/05/2026  09:00-10:30  -  Salle A101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237744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30 etudiants inscrits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834640"/>
            <a:ext cx="1828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Tous presents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2834640"/>
            <a:ext cx="1828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Importer CSV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834640"/>
            <a:ext cx="3383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Rechercher un etudiant...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3291840"/>
            <a:ext cx="886968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97480" y="3291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Etudiant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2918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Present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2918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Absent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2918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Retard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2918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Excuse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32918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Note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40" y="3657600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0" y="36576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Bernard Lea</a:t>
            </a:r>
          </a:p>
        </p:txBody>
      </p:sp>
      <p:sp>
        <p:nvSpPr>
          <p:cNvPr id="47" name="Oval 46"/>
          <p:cNvSpPr/>
          <p:nvPr/>
        </p:nvSpPr>
        <p:spPr>
          <a:xfrm>
            <a:off x="6263640" y="3758184"/>
            <a:ext cx="182880" cy="18288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60920" y="3758184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8458200" y="3758184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9555480" y="3758184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287000" y="3712464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Commentaire...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0416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Bouzid Karim</a:t>
            </a:r>
          </a:p>
        </p:txBody>
      </p:sp>
      <p:sp>
        <p:nvSpPr>
          <p:cNvPr id="53" name="Oval 52"/>
          <p:cNvSpPr/>
          <p:nvPr/>
        </p:nvSpPr>
        <p:spPr>
          <a:xfrm>
            <a:off x="6263640" y="4142232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7360920" y="4142232"/>
            <a:ext cx="182880" cy="18288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8458200" y="4142232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9555480" y="4142232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287000" y="4096512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Commentaire...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40" y="4425696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43200" y="442569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Dubois Sara</a:t>
            </a:r>
          </a:p>
        </p:txBody>
      </p:sp>
      <p:sp>
        <p:nvSpPr>
          <p:cNvPr id="60" name="Oval 59"/>
          <p:cNvSpPr/>
          <p:nvPr/>
        </p:nvSpPr>
        <p:spPr>
          <a:xfrm>
            <a:off x="6263640" y="4526280"/>
            <a:ext cx="182880" cy="18288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7360920" y="4526280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Oval 61"/>
          <p:cNvSpPr/>
          <p:nvPr/>
        </p:nvSpPr>
        <p:spPr>
          <a:xfrm>
            <a:off x="8458200" y="4526280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9555480" y="4526280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287000" y="44805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Commentaire...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480974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Dupont Jean</a:t>
            </a:r>
          </a:p>
        </p:txBody>
      </p:sp>
      <p:sp>
        <p:nvSpPr>
          <p:cNvPr id="66" name="Oval 65"/>
          <p:cNvSpPr/>
          <p:nvPr/>
        </p:nvSpPr>
        <p:spPr>
          <a:xfrm>
            <a:off x="6263640" y="4910328"/>
            <a:ext cx="182880" cy="18288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Oval 66"/>
          <p:cNvSpPr/>
          <p:nvPr/>
        </p:nvSpPr>
        <p:spPr>
          <a:xfrm>
            <a:off x="7360920" y="491032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Oval 67"/>
          <p:cNvSpPr/>
          <p:nvPr/>
        </p:nvSpPr>
        <p:spPr>
          <a:xfrm>
            <a:off x="8458200" y="491032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Oval 68"/>
          <p:cNvSpPr/>
          <p:nvPr/>
        </p:nvSpPr>
        <p:spPr>
          <a:xfrm>
            <a:off x="9555480" y="491032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287000" y="4864608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Commentaire...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40" y="5193792"/>
            <a:ext cx="886968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0" y="519379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Roux Theo</a:t>
            </a:r>
          </a:p>
        </p:txBody>
      </p:sp>
      <p:sp>
        <p:nvSpPr>
          <p:cNvPr id="73" name="Oval 72"/>
          <p:cNvSpPr/>
          <p:nvPr/>
        </p:nvSpPr>
        <p:spPr>
          <a:xfrm>
            <a:off x="6263640" y="5294376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Oval 73"/>
          <p:cNvSpPr/>
          <p:nvPr/>
        </p:nvSpPr>
        <p:spPr>
          <a:xfrm>
            <a:off x="7360920" y="5294376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Oval 74"/>
          <p:cNvSpPr/>
          <p:nvPr/>
        </p:nvSpPr>
        <p:spPr>
          <a:xfrm>
            <a:off x="8458200" y="5294376"/>
            <a:ext cx="182880" cy="18288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Oval 75"/>
          <p:cNvSpPr/>
          <p:nvPr/>
        </p:nvSpPr>
        <p:spPr>
          <a:xfrm>
            <a:off x="9555480" y="5294376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287000" y="5248656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Commentaire...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0" y="557784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Calibri"/>
              </a:rPr>
              <a:t>Smith Anna</a:t>
            </a:r>
          </a:p>
        </p:txBody>
      </p:sp>
      <p:sp>
        <p:nvSpPr>
          <p:cNvPr id="79" name="Oval 78"/>
          <p:cNvSpPr/>
          <p:nvPr/>
        </p:nvSpPr>
        <p:spPr>
          <a:xfrm>
            <a:off x="6263640" y="5678424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Oval 79"/>
          <p:cNvSpPr/>
          <p:nvPr/>
        </p:nvSpPr>
        <p:spPr>
          <a:xfrm>
            <a:off x="7360920" y="5678424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Oval 80"/>
          <p:cNvSpPr/>
          <p:nvPr/>
        </p:nvSpPr>
        <p:spPr>
          <a:xfrm>
            <a:off x="8458200" y="5678424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Oval 81"/>
          <p:cNvSpPr/>
          <p:nvPr/>
        </p:nvSpPr>
        <p:spPr>
          <a:xfrm>
            <a:off x="9555480" y="5678424"/>
            <a:ext cx="182880" cy="18288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287000" y="5632704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Commentaire...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06040" y="60350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ANNULER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46920" y="6035040"/>
            <a:ext cx="182880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VALIDER L'APPEL</a:t>
            </a:r>
          </a:p>
        </p:txBody>
      </p:sp>
      <p:sp>
        <p:nvSpPr>
          <p:cNvPr id="86" name="TextBox 10">
            <a:extLst>
              <a:ext uri="{FF2B5EF4-FFF2-40B4-BE49-F238E27FC236}">
                <a16:creationId xmlns:a16="http://schemas.microsoft.com/office/drawing/2014/main" id="{0D591ECA-A691-8362-F753-2E33E5FA29F6}"/>
              </a:ext>
            </a:extLst>
          </p:cNvPr>
          <p:cNvSpPr txBox="1"/>
          <p:nvPr/>
        </p:nvSpPr>
        <p:spPr>
          <a:xfrm>
            <a:off x="-1143000" y="6192828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 dirty="0">
                <a:solidFill>
                  <a:srgbClr val="555555"/>
                </a:solidFill>
                <a:latin typeface="Calibri"/>
              </a:rPr>
              <a:t>&lt;</a:t>
            </a: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55555"/>
                </a:solidFill>
                <a:latin typeface="Calibri"/>
              </a:rPr>
              <a:t> </a:t>
            </a:r>
            <a:r>
              <a:rPr lang="fr-FR" sz="1000" b="0" i="0" dirty="0" err="1">
                <a:solidFill>
                  <a:srgbClr val="555555"/>
                </a:solidFill>
                <a:latin typeface="Calibri"/>
              </a:rPr>
              <a:t>Deconnexion</a:t>
            </a:r>
            <a:endParaRPr sz="10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87" name="Oval 18">
            <a:extLst>
              <a:ext uri="{FF2B5EF4-FFF2-40B4-BE49-F238E27FC236}">
                <a16:creationId xmlns:a16="http://schemas.microsoft.com/office/drawing/2014/main" id="{EE3A9D53-C7D3-7852-E90C-E82E599A22A1}"/>
              </a:ext>
            </a:extLst>
          </p:cNvPr>
          <p:cNvSpPr/>
          <p:nvPr/>
        </p:nvSpPr>
        <p:spPr>
          <a:xfrm>
            <a:off x="10561320" y="982980"/>
            <a:ext cx="411480" cy="411480"/>
          </a:xfrm>
          <a:prstGeom prst="ellipse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Wireframe #13 - Connexion -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909090"/>
                </a:solidFill>
                <a:latin typeface="Calibri"/>
              </a:rPr>
              <a:t>Version responsive (largeur ~360 px)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  <a:latin typeface="Calibri"/>
              </a:rPr>
              <a:t>SmartCampus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737360"/>
            <a:ext cx="1828800" cy="128016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828800" y="1737360"/>
            <a:ext cx="1828800" cy="128016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28800" y="1737360"/>
            <a:ext cx="1828800" cy="128016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22677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LOGO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004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Email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3429000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Mot de passe 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4069080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********</a:t>
            </a:r>
          </a:p>
        </p:txBody>
      </p:sp>
      <p:sp>
        <p:nvSpPr>
          <p:cNvPr id="22" name="Oval 21"/>
          <p:cNvSpPr/>
          <p:nvPr/>
        </p:nvSpPr>
        <p:spPr>
          <a:xfrm>
            <a:off x="1645920" y="4526280"/>
            <a:ext cx="137160" cy="137160"/>
          </a:xfrm>
          <a:prstGeom prst="ellipse">
            <a:avLst/>
          </a:prstGeom>
          <a:solidFill>
            <a:srgbClr val="20202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Etu.</a:t>
            </a:r>
          </a:p>
        </p:txBody>
      </p:sp>
      <p:sp>
        <p:nvSpPr>
          <p:cNvPr id="24" name="Oval 23"/>
          <p:cNvSpPr/>
          <p:nvPr/>
        </p:nvSpPr>
        <p:spPr>
          <a:xfrm>
            <a:off x="2423160" y="4526280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40" y="44805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Ens.</a:t>
            </a:r>
          </a:p>
        </p:txBody>
      </p:sp>
      <p:sp>
        <p:nvSpPr>
          <p:cNvPr id="26" name="Oval 25"/>
          <p:cNvSpPr/>
          <p:nvPr/>
        </p:nvSpPr>
        <p:spPr>
          <a:xfrm>
            <a:off x="3200400" y="4526280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44805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Adm.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4937760"/>
            <a:ext cx="219456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VALIDER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492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Mot de passe oublie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77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Creer un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Connexion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13258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Creer un compte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178308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Prenom 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196596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Jean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28600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Nom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46888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Dupont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78892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Email 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97180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j.dupont@...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29184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Mot de passe 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47472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********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7947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Confirmer 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397764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********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4526280"/>
            <a:ext cx="219456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S'INSCRIRE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Inscription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13258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Mot de passe oublie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19202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Saisissez votre email, nous vous enverrons un lien pour reinitialiser votre mot de passe.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6517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Email 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2880360"/>
            <a:ext cx="21945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3383280"/>
            <a:ext cx="219456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ENVOYER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Mot de passe oublie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Wireframe #14 - Dashboard etudiant -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909090"/>
                </a:solidFill>
                <a:latin typeface="Calibri"/>
              </a:rPr>
              <a:t>Sidebar = menu burger / nav = barre du 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828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02020"/>
                </a:solidFill>
                <a:latin typeface="Calibri"/>
              </a:rPr>
              <a:t>Bonjour 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1031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Semestre S4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377440"/>
            <a:ext cx="1143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24231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555555"/>
                </a:solidFill>
                <a:latin typeface="Calibri"/>
              </a:rPr>
              <a:t>MOYENNE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5176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  <a:latin typeface="Calibri"/>
              </a:rPr>
              <a:t>14.2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377440"/>
            <a:ext cx="1143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24231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555555"/>
                </a:solidFill>
                <a:latin typeface="Calibri"/>
              </a:rPr>
              <a:t>PRESENCE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65176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  <a:latin typeface="Calibri"/>
              </a:rPr>
              <a:t>92%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246120"/>
            <a:ext cx="1143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329184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555555"/>
                </a:solidFill>
                <a:latin typeface="Calibri"/>
              </a:rPr>
              <a:t>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246120"/>
            <a:ext cx="114300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88920" y="329184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555555"/>
                </a:solidFill>
                <a:latin typeface="Calibri"/>
              </a:rPr>
              <a:t>MSG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3520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1605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Calibri"/>
              </a:rPr>
              <a:t>Prochains cours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434840"/>
            <a:ext cx="2377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45262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* Lun 9h - Algo - A101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45920" y="4864608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45920" y="491032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* Lun 14h - Reseaux - B205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45920" y="5248656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45920" y="529437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* Mar 10h - BDD - A203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5870448"/>
            <a:ext cx="2560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63040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75104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Cours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Presences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1296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Msg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Accueil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377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1737360"/>
            <a:ext cx="2560320" cy="411480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29200" y="1874519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23560" y="1874519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  <a:latin typeface="Calibri"/>
              </a:rPr>
              <a:t>Jean Dupont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210312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Etudiant - L2 Informatique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&gt; Accueil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029200" y="2834640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0" y="28620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Mes cours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0" y="3182112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0" y="320954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Notes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0" y="3529584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9200" y="35570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Presences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29200" y="3877056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0" y="39044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Messagerie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0" y="4224528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0" y="4251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Notifications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0" y="4572000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0" y="45994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Profil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0" y="4919472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29200" y="494690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Parametres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9200" y="5266944"/>
            <a:ext cx="21945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029200" y="529437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Deconnexion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Menu lateral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210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Notifications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3272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75320" y="1828800"/>
            <a:ext cx="2468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66760" y="1874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  <a:latin typeface="Calibri"/>
              </a:rPr>
              <a:t>[NOTE]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20756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Note publiee : Algo 15/20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75320" y="2423160"/>
            <a:ext cx="2468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66760" y="24688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  <a:latin typeface="Calibri"/>
              </a:rPr>
              <a:t>[!]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26700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Absences &gt; 30% en Reseaux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75320" y="3017520"/>
            <a:ext cx="2468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66760" y="30632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  <a:latin typeface="Calibri"/>
              </a:rPr>
              <a:t>[MSG]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2644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Nouveau message M. Martin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5320" y="3611880"/>
            <a:ext cx="2468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36576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  <a:latin typeface="Calibri"/>
              </a:rPr>
              <a:t>[INSC]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Inscription validee : Web S4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75320" y="4206240"/>
            <a:ext cx="2468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366760" y="4251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  <a:latin typeface="Calibri"/>
              </a:rPr>
              <a:t>[NOTE]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66760" y="44531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Note publiee : BDD 12/20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5870448"/>
            <a:ext cx="2560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229600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02020"/>
                </a:solidFill>
                <a:latin typeface="Calibri"/>
              </a:rPr>
              <a:t>Accueil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41664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Cours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53728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Notes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65792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Presences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77856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Msg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6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Wireframe #15 - Releve de notes - mobile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Mes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1828800"/>
            <a:ext cx="2377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Semestre S4 - 2025/26  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286000"/>
            <a:ext cx="237744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23317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Moyenne generale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4203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02020"/>
                </a:solidFill>
                <a:latin typeface="Calibri"/>
              </a:rPr>
              <a:t>14.2 / 20  -  BIEN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06324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30632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Algorithmique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0632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202020"/>
                </a:solidFill>
                <a:latin typeface="Calibri"/>
              </a:rPr>
              <a:t>14.5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06324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352044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35204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Bases de donnees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5204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202020"/>
                </a:solidFill>
                <a:latin typeface="Calibri"/>
              </a:rPr>
              <a:t>12.0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52044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397764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39776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Programmation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9776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202020"/>
                </a:solidFill>
                <a:latin typeface="Calibri"/>
              </a:rPr>
              <a:t>15.5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97764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43484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44348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Probabilites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4348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202020"/>
                </a:solidFill>
                <a:latin typeface="Calibri"/>
              </a:rPr>
              <a:t>11.5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43484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489204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45920" y="48920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Anglais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8920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202020"/>
                </a:solidFill>
                <a:latin typeface="Calibri"/>
              </a:rPr>
              <a:t>14.0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89204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5870448"/>
            <a:ext cx="2560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63040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Accueil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75104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Cours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7168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02020"/>
                </a:solidFill>
                <a:latin typeface="Calibri"/>
              </a:rPr>
              <a:t>Notes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9232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Presences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1296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Msg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Mes notes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77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Algorithmique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1828800"/>
            <a:ext cx="237744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37760" y="1874519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Moyenne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208483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02020"/>
                </a:solidFill>
                <a:latin typeface="Calibri"/>
              </a:rPr>
              <a:t>14.5 / 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Detail des notes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292608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0" y="2926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Examen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Calibri"/>
              </a:rPr>
              <a:t>15/20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  <a:latin typeface="Calibri"/>
              </a:rPr>
              <a:t>coef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32004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Bon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35204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0" y="3520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TP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3520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Calibri"/>
              </a:rPr>
              <a:t>13/20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3520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  <a:latin typeface="Calibri"/>
              </a:rPr>
              <a:t>coef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37947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411480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0" y="4114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Controle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Calibri"/>
              </a:rPr>
              <a:t>14/20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  <a:latin typeface="Calibri"/>
              </a:rPr>
              <a:t>coef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0" y="43891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470916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0" y="4709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Projet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Calibri"/>
              </a:rPr>
              <a:t>16/20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  <a:latin typeface="Calibri"/>
              </a:rPr>
              <a:t>coef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49834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Excellent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0" y="5486400"/>
            <a:ext cx="237744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TELECHARGER PDF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Detail matiere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3210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Bulletin S4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272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03920" y="1828800"/>
            <a:ext cx="2011680" cy="256032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8503920" y="1828800"/>
            <a:ext cx="2011680" cy="256032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8503920" y="1828800"/>
            <a:ext cx="2011680" cy="256032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503920" y="29992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Apercu PDF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21040" y="4572000"/>
            <a:ext cx="237744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TELECHARGER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502920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ENVOYER PAR EMAIL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21040" y="548640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IMPRIMER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3816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Bulletin 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Wireframe #16 - Mes presences - mobile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Mes presences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182880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45920" y="18288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Algorithmique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8288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202020"/>
                </a:solidFill>
                <a:latin typeface="Calibri"/>
              </a:rPr>
              <a:t>95%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468880"/>
            <a:ext cx="2377440" cy="5486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24688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Reseaux  [!]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4688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202020"/>
                </a:solidFill>
                <a:latin typeface="Calibri"/>
              </a:rPr>
              <a:t>68%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10896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31089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Bases donnees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108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202020"/>
                </a:solidFill>
                <a:latin typeface="Calibri"/>
              </a:rPr>
              <a:t>82%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74904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37490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7490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202020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438912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43891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Anglais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3891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202020"/>
                </a:solidFill>
                <a:latin typeface="Calibri"/>
              </a:rPr>
              <a:t>85%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5870448"/>
            <a:ext cx="2560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63040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Accueil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75104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Cours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02020"/>
                </a:solidFill>
                <a:latin typeface="Calibri"/>
              </a:rPr>
              <a:t>Presences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1296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Msg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Vue par matiere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Reseaux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1828800"/>
            <a:ext cx="2377440" cy="64008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1874519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Taux de presence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208483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02020"/>
                </a:solidFill>
                <a:latin typeface="Calibri"/>
              </a:rPr>
              <a:t>68%  - ALERTE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265176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26517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Lun 25/05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651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6517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02020"/>
                </a:solidFill>
                <a:latin typeface="Calibri"/>
              </a:rPr>
              <a:t>Present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0" y="3154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Mar 26/05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14:00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1546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02020"/>
                </a:solidFill>
                <a:latin typeface="Calibri"/>
              </a:rPr>
              <a:t>Absent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365760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0" y="3657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Jeu 28/05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10:00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6576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02020"/>
                </a:solidFill>
                <a:latin typeface="Calibri"/>
              </a:rPr>
              <a:t>Retard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416052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0" y="41605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Lun 03/06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4160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1605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02020"/>
                </a:solidFill>
                <a:latin typeface="Calibri"/>
              </a:rPr>
              <a:t>Present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466344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0" y="4663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Mar 04/06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4663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14:00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6634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02020"/>
                </a:solidFill>
                <a:latin typeface="Calibri"/>
              </a:rPr>
              <a:t>Absent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Detail seances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Justifier absence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1828800"/>
            <a:ext cx="237744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412480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Seance : Reseaux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Mar. 26/05/2026 - 14:00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2606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Motif 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2834640"/>
            <a:ext cx="2377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Maladie  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2461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Description 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21040" y="3474720"/>
            <a:ext cx="2377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Decrivez le motif...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46634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Justificatif (PDF, image) :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21040" y="4892040"/>
            <a:ext cx="2377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[+] Joindre un fichier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5349240"/>
            <a:ext cx="237744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ENVOYER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Justifier absence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  <a:latin typeface="Calibri"/>
              </a:rPr>
              <a:t>Wireframe #17 - Messagerie - mobile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0" y="822960"/>
            <a:ext cx="27432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914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09:41                                                4G 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6327648"/>
            <a:ext cx="731520" cy="4572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Messagerie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1828800"/>
            <a:ext cx="237744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+ NOUVEAU MESSAGE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28600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2286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[*] M.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860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Calibri"/>
              </a:rPr>
              <a:t>Hier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5603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Re: TP3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292608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2926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[*] Mme Petit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9260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Calibri"/>
              </a:rPr>
              <a:t>Lun.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2004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Projet Web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566160"/>
            <a:ext cx="23774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3566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02020"/>
                </a:solidFill>
                <a:latin typeface="Calibri"/>
              </a:rPr>
              <a:t>[*]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56616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Calibri"/>
              </a:rPr>
              <a:t>12/05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404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Verrouillage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2062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45920" y="4206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  M. Bernard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2062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Calibri"/>
              </a:rPr>
              <a:t>10/05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480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Cours reporte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484632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45920" y="4846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      Mme Lefevre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8463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Calibri"/>
              </a:rPr>
              <a:t>08/05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120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Note partiel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5870448"/>
            <a:ext cx="2560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63040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Accueil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75104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Cours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87168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Notes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9232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Presences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58704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02020"/>
                </a:solidFill>
                <a:latin typeface="Calibri"/>
              </a:rPr>
              <a:t>Msg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Boite de reception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M. Martin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1828800"/>
            <a:ext cx="182880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0" y="187452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Bonjour Jean, voici la correction du TP3.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2560320"/>
            <a:ext cx="1828800" cy="64008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77840" y="260604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Merci beaucoup ! Une question : pour la complexite, faut-il toujours majorer 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3291840"/>
            <a:ext cx="182880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0" y="33375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Oui, on prend le pire cas. Notation O(n).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4023360"/>
            <a:ext cx="1828800" cy="41148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7840" y="40690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  <a:latin typeface="Calibri"/>
              </a:rPr>
              <a:t>Tres clair, merci !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534924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937760" y="5440680"/>
            <a:ext cx="1828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Ecrire un message...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5440680"/>
            <a:ext cx="365760" cy="32004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Conversation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13258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02020"/>
                </a:solidFill>
                <a:latin typeface="Calibri"/>
              </a:rPr>
              <a:t>&lt; Nouveau message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[*]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1828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A 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2057400"/>
            <a:ext cx="2377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Choisir un contact  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4688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Sujet 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2697480"/>
            <a:ext cx="2377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Objet du message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31089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02020"/>
                </a:solidFill>
                <a:latin typeface="Calibri"/>
              </a:rPr>
              <a:t>Message :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3337560"/>
            <a:ext cx="2377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l"/>
            <a:r>
              <a:rPr sz="900" i="1">
                <a:solidFill>
                  <a:srgbClr val="909090"/>
                </a:solidFill>
              </a:rPr>
              <a:t>  Votre message...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5212080"/>
            <a:ext cx="2377440" cy="365760"/>
          </a:xfrm>
          <a:prstGeom prst="rect">
            <a:avLst/>
          </a:prstGeom>
          <a:solidFill>
            <a:srgbClr val="D0D0D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202020"/>
                </a:solidFill>
              </a:rPr>
              <a:t>ENVOYER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5623560"/>
            <a:ext cx="2377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900" b="1">
                <a:solidFill>
                  <a:srgbClr val="202020"/>
                </a:solidFill>
              </a:rPr>
              <a:t>Joindre un fichier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6172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Calibri"/>
              </a:rPr>
              <a:t>Nouveau message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2408</Words>
  <Application>Microsoft Office PowerPoint</Application>
  <PresentationFormat>Grand écran</PresentationFormat>
  <Paragraphs>912</Paragraphs>
  <Slides>17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 TORNER</cp:lastModifiedBy>
  <cp:revision>3</cp:revision>
  <dcterms:created xsi:type="dcterms:W3CDTF">2013-01-27T09:14:16Z</dcterms:created>
  <dcterms:modified xsi:type="dcterms:W3CDTF">2026-05-28T10:22:30Z</dcterms:modified>
  <cp:category/>
</cp:coreProperties>
</file>